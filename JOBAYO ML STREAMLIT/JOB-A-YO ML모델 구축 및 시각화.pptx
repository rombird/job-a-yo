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64" r:id="rId2"/>
    <p:sldId id="279" r:id="rId3"/>
    <p:sldId id="278" r:id="rId4"/>
    <p:sldId id="280" r:id="rId5"/>
    <p:sldId id="281" r:id="rId6"/>
    <p:sldId id="282" r:id="rId7"/>
  </p:sldIdLst>
  <p:sldSz cx="18288000" cy="10287000"/>
  <p:notesSz cx="6858000" cy="9144000"/>
  <p:embeddedFontLst>
    <p:embeddedFont>
      <p:font typeface="맑은 고딕" panose="020B0503020000020004" pitchFamily="50" charset="-127"/>
      <p:regular r:id="rId9"/>
      <p:bold r:id="rId10"/>
    </p:embeddedFont>
    <p:embeddedFont>
      <p:font typeface="페이퍼로지 6 SemiBold" charset="-127"/>
      <p:bold r:id="rId11"/>
    </p:embeddedFont>
    <p:embeddedFont>
      <p:font typeface="Work Sans Bold" panose="020B0604020202020204" charset="0"/>
      <p:regular r:id="rId12"/>
    </p:embeddedFont>
    <p:embeddedFont>
      <p:font typeface="Work Sans" panose="020B0604020202020204" charset="0"/>
      <p:regular r:id="rId13"/>
      <p:bold r:id="rId14"/>
      <p:italic r:id="rId15"/>
      <p:boldItalic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51AA"/>
    <a:srgbClr val="E3E2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2072" autoAdjust="0"/>
  </p:normalViewPr>
  <p:slideViewPr>
    <p:cSldViewPr>
      <p:cViewPr varScale="1">
        <p:scale>
          <a:sx n="31" d="100"/>
          <a:sy n="31" d="100"/>
        </p:scale>
        <p:origin x="-101" y="-5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231FE3-586A-4F1F-BAF5-67C4E8B6FDB6}" type="datetimeFigureOut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7B9F98-6336-4EFE-9E9D-DD9C0BAEA4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468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7B9F98-6336-4EFE-9E9D-DD9C0BAEA41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96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7B9F98-6336-4EFE-9E9D-DD9C0BAEA41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96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51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6"/>
          <p:cNvGrpSpPr/>
          <p:nvPr/>
        </p:nvGrpSpPr>
        <p:grpSpPr>
          <a:xfrm rot="5400000">
            <a:off x="17045625" y="262575"/>
            <a:ext cx="552450" cy="979799"/>
            <a:chOff x="0" y="0"/>
            <a:chExt cx="189122" cy="33541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89122" cy="335417"/>
            </a:xfrm>
            <a:custGeom>
              <a:avLst/>
              <a:gdLst/>
              <a:ahLst/>
              <a:cxnLst/>
              <a:rect l="l" t="t" r="r" b="b"/>
              <a:pathLst>
                <a:path w="189122" h="335417">
                  <a:moveTo>
                    <a:pt x="94561" y="0"/>
                  </a:moveTo>
                  <a:lnTo>
                    <a:pt x="94561" y="0"/>
                  </a:lnTo>
                  <a:cubicBezTo>
                    <a:pt x="146785" y="0"/>
                    <a:pt x="189122" y="42336"/>
                    <a:pt x="189122" y="94561"/>
                  </a:cubicBezTo>
                  <a:lnTo>
                    <a:pt x="189122" y="240856"/>
                  </a:lnTo>
                  <a:cubicBezTo>
                    <a:pt x="189122" y="265936"/>
                    <a:pt x="179159" y="289988"/>
                    <a:pt x="161425" y="307721"/>
                  </a:cubicBezTo>
                  <a:cubicBezTo>
                    <a:pt x="143692" y="325455"/>
                    <a:pt x="119640" y="335417"/>
                    <a:pt x="94561" y="335417"/>
                  </a:cubicBezTo>
                  <a:lnTo>
                    <a:pt x="94561" y="335417"/>
                  </a:lnTo>
                  <a:cubicBezTo>
                    <a:pt x="42336" y="335417"/>
                    <a:pt x="0" y="293081"/>
                    <a:pt x="0" y="240856"/>
                  </a:cubicBezTo>
                  <a:lnTo>
                    <a:pt x="0" y="94561"/>
                  </a:lnTo>
                  <a:cubicBezTo>
                    <a:pt x="0" y="69482"/>
                    <a:pt x="9963" y="45430"/>
                    <a:pt x="27696" y="27696"/>
                  </a:cubicBezTo>
                  <a:cubicBezTo>
                    <a:pt x="45430" y="9963"/>
                    <a:pt x="69482" y="0"/>
                    <a:pt x="945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E3E2DE"/>
              </a:solidFill>
              <a:prstDash val="solid"/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189122" cy="344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6831951" y="633413"/>
            <a:ext cx="979799" cy="291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06</a:t>
            </a:r>
          </a:p>
        </p:txBody>
      </p:sp>
      <p:sp>
        <p:nvSpPr>
          <p:cNvPr id="31" name="TextBox 6">
            <a:extLst>
              <a:ext uri="{FF2B5EF4-FFF2-40B4-BE49-F238E27FC236}">
                <a16:creationId xmlns="" xmlns:a16="http://schemas.microsoft.com/office/drawing/2014/main" id="{C6464847-34D4-4614-AEDA-C387F7125F5D}"/>
              </a:ext>
            </a:extLst>
          </p:cNvPr>
          <p:cNvSpPr txBox="1"/>
          <p:nvPr/>
        </p:nvSpPr>
        <p:spPr>
          <a:xfrm>
            <a:off x="476250" y="276225"/>
            <a:ext cx="17335500" cy="17022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8800" b="1" spc="-825" dirty="0">
                <a:solidFill>
                  <a:srgbClr val="E3E2DE"/>
                </a:solidFill>
                <a:latin typeface="Aileron Heavy"/>
                <a:ea typeface="Aileron Heavy"/>
                <a:cs typeface="Aileron Heavy"/>
                <a:sym typeface="Aileron Heavy"/>
              </a:rPr>
              <a:t>Key Implementations &amp; Demo</a:t>
            </a:r>
          </a:p>
        </p:txBody>
      </p:sp>
      <p:sp>
        <p:nvSpPr>
          <p:cNvPr id="32" name="TextBox 11">
            <a:extLst>
              <a:ext uri="{FF2B5EF4-FFF2-40B4-BE49-F238E27FC236}">
                <a16:creationId xmlns="" xmlns:a16="http://schemas.microsoft.com/office/drawing/2014/main" id="{19594D45-1E6D-4B0D-997F-EC22E1DF48DC}"/>
              </a:ext>
            </a:extLst>
          </p:cNvPr>
          <p:cNvSpPr txBox="1"/>
          <p:nvPr/>
        </p:nvSpPr>
        <p:spPr>
          <a:xfrm>
            <a:off x="609600" y="2387505"/>
            <a:ext cx="7543800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39"/>
              </a:lnSpc>
              <a:spcBef>
                <a:spcPct val="0"/>
              </a:spcBef>
            </a:pPr>
            <a:r>
              <a:rPr lang="en-US" altLang="ko-KR" sz="32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ML </a:t>
            </a:r>
            <a:r>
              <a:rPr lang="ko-KR" altLang="en-US" sz="3200" dirty="0" smtClean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모델</a:t>
            </a:r>
            <a:r>
              <a:rPr lang="en-US" altLang="ko-KR" sz="3200" dirty="0" smtClean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(ver.1)</a:t>
            </a:r>
            <a:r>
              <a:rPr lang="ko-KR" altLang="en-US" sz="3200" dirty="0" smtClean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 </a:t>
            </a:r>
            <a:r>
              <a:rPr lang="ko-KR" altLang="en-US" sz="32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구축 </a:t>
            </a:r>
            <a:r>
              <a:rPr lang="ko-KR" altLang="en-US" sz="3200" dirty="0" smtClean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과정</a:t>
            </a:r>
            <a:endParaRPr lang="en-US" altLang="ko-KR" sz="3200" dirty="0">
              <a:solidFill>
                <a:srgbClr val="E3E2DE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9594D45-1E6D-4B0D-997F-EC22E1DF48DC}"/>
              </a:ext>
            </a:extLst>
          </p:cNvPr>
          <p:cNvSpPr txBox="1"/>
          <p:nvPr/>
        </p:nvSpPr>
        <p:spPr>
          <a:xfrm>
            <a:off x="10197292" y="4499434"/>
            <a:ext cx="7543800" cy="3288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39"/>
              </a:lnSpc>
              <a:spcBef>
                <a:spcPct val="0"/>
              </a:spcBef>
            </a:pPr>
            <a:endParaRPr lang="ko-KR" altLang="en-US" sz="3200" dirty="0">
              <a:solidFill>
                <a:srgbClr val="E3E2DE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  <a:p>
            <a:pPr marL="457200" indent="-457200" algn="just">
              <a:spcBef>
                <a:spcPct val="0"/>
              </a:spcBef>
              <a:buFontTx/>
              <a:buChar char="-"/>
            </a:pPr>
            <a:r>
              <a:rPr lang="ko-KR" altLang="en-US" sz="2400" dirty="0" smtClean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기존 </a:t>
            </a:r>
            <a:r>
              <a:rPr lang="ko-KR" altLang="en-US" sz="24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방식의 문제</a:t>
            </a:r>
            <a:r>
              <a:rPr lang="en-US" altLang="ko-KR" sz="2400" dirty="0" smtClean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:</a:t>
            </a:r>
            <a:r>
              <a:rPr lang="ko-KR" altLang="en-US" sz="2400" dirty="0" smtClean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단순히 </a:t>
            </a:r>
            <a:r>
              <a:rPr lang="en-US" altLang="ko-KR" sz="24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'</a:t>
            </a:r>
            <a:r>
              <a:rPr lang="ko-KR" altLang="en-US" sz="24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상권지표</a:t>
            </a:r>
            <a:r>
              <a:rPr lang="en-US" altLang="ko-KR" sz="24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' </a:t>
            </a:r>
            <a:r>
              <a:rPr lang="ko-KR" altLang="en-US" sz="24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하나만으로는 해당 업종의 실제 </a:t>
            </a:r>
            <a:r>
              <a:rPr lang="ko-KR" altLang="en-US" sz="2400" dirty="0" err="1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생존력을</a:t>
            </a:r>
            <a:r>
              <a:rPr lang="ko-KR" altLang="en-US" sz="24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 반영하기 </a:t>
            </a:r>
            <a:r>
              <a:rPr lang="ko-KR" altLang="en-US" sz="2400" dirty="0" smtClean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어려움</a:t>
            </a:r>
            <a:endParaRPr lang="en-US" altLang="ko-KR" sz="2400" dirty="0" smtClean="0">
              <a:solidFill>
                <a:srgbClr val="E3E2DE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  <a:p>
            <a:pPr algn="just">
              <a:spcBef>
                <a:spcPct val="0"/>
              </a:spcBef>
            </a:pPr>
            <a:endParaRPr lang="en-US" altLang="ko-KR" sz="2400" dirty="0">
              <a:solidFill>
                <a:srgbClr val="E3E2DE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  <a:p>
            <a:pPr marL="457200" indent="-457200" algn="just">
              <a:spcBef>
                <a:spcPct val="0"/>
              </a:spcBef>
              <a:buFontTx/>
              <a:buChar char="-"/>
            </a:pPr>
            <a:r>
              <a:rPr lang="ko-KR" altLang="en-US" sz="2400" dirty="0" smtClean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해결 </a:t>
            </a:r>
            <a:r>
              <a:rPr lang="en-US" altLang="ko-KR" sz="24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(</a:t>
            </a:r>
            <a:r>
              <a:rPr lang="ko-KR" altLang="en-US" sz="24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복합 </a:t>
            </a:r>
            <a:r>
              <a:rPr lang="ko-KR" altLang="en-US" sz="2400" dirty="0" err="1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라벨링</a:t>
            </a:r>
            <a:r>
              <a:rPr lang="en-US" altLang="ko-KR" sz="2400" dirty="0" smtClean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): </a:t>
            </a:r>
            <a:r>
              <a:rPr lang="ko-KR" altLang="en-US" sz="24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상권 변화지표</a:t>
            </a:r>
            <a:r>
              <a:rPr lang="en-US" altLang="ko-KR" sz="24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, </a:t>
            </a:r>
            <a:r>
              <a:rPr lang="ko-KR" altLang="en-US" sz="24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업종별 평균 운영 기간</a:t>
            </a:r>
            <a:r>
              <a:rPr lang="en-US" altLang="ko-KR" sz="24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, </a:t>
            </a:r>
            <a:r>
              <a:rPr lang="ko-KR" altLang="en-US" sz="2400" dirty="0" err="1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폐업률</a:t>
            </a:r>
            <a:r>
              <a:rPr lang="ko-KR" altLang="en-US" sz="24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 </a:t>
            </a:r>
            <a:r>
              <a:rPr lang="en-US" altLang="ko-KR" sz="24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3</a:t>
            </a:r>
            <a:r>
              <a:rPr lang="ko-KR" altLang="en-US" sz="24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가지를 조합한 </a:t>
            </a:r>
            <a:r>
              <a:rPr lang="en-US" altLang="ko-KR" sz="2400" dirty="0" smtClean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'2/3 </a:t>
            </a:r>
            <a:r>
              <a:rPr lang="ko-KR" altLang="en-US" sz="24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원칙</a:t>
            </a:r>
            <a:r>
              <a:rPr lang="en-US" altLang="ko-KR" sz="2400" dirty="0" smtClean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'</a:t>
            </a:r>
            <a:r>
              <a:rPr lang="ko-KR" altLang="en-US" sz="2400" dirty="0" smtClean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을 수립함</a:t>
            </a:r>
            <a:endParaRPr lang="en-US" altLang="ko-KR" sz="2400" dirty="0" smtClean="0">
              <a:solidFill>
                <a:srgbClr val="E3E2DE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  <a:p>
            <a:pPr algn="just">
              <a:spcBef>
                <a:spcPct val="0"/>
              </a:spcBef>
            </a:pPr>
            <a:endParaRPr lang="en-US" altLang="ko-KR" sz="2400" dirty="0" smtClean="0">
              <a:solidFill>
                <a:srgbClr val="E3E2DE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  <a:p>
            <a:pPr marL="457200" indent="-457200" algn="just">
              <a:spcBef>
                <a:spcPct val="0"/>
              </a:spcBef>
              <a:buFontTx/>
              <a:buChar char="-"/>
            </a:pPr>
            <a:r>
              <a:rPr lang="ko-KR" altLang="en-US" sz="24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결과</a:t>
            </a:r>
            <a:r>
              <a:rPr lang="en-US" altLang="ko-KR" sz="24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: </a:t>
            </a:r>
            <a:r>
              <a:rPr lang="ko-KR" altLang="en-US" sz="24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특정 지역이 불황이라도 살아남는 </a:t>
            </a:r>
            <a:r>
              <a:rPr lang="en-US" altLang="ko-KR" sz="24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'</a:t>
            </a:r>
            <a:r>
              <a:rPr lang="ko-KR" altLang="en-US" sz="24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강한 업종</a:t>
            </a:r>
            <a:r>
              <a:rPr lang="en-US" altLang="ko-KR" sz="24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'</a:t>
            </a:r>
            <a:r>
              <a:rPr lang="ko-KR" altLang="en-US" sz="24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을 성공으로 분류하는 정교한 정답지 </a:t>
            </a:r>
            <a:r>
              <a:rPr lang="ko-KR" altLang="en-US" sz="2400" dirty="0" smtClean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구축함</a:t>
            </a:r>
            <a:endParaRPr lang="en-US" altLang="ko-KR" sz="2400" dirty="0">
              <a:solidFill>
                <a:srgbClr val="E3E2DE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599" y="3216291"/>
            <a:ext cx="8839201" cy="6346809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1">
            <a:extLst>
              <a:ext uri="{FF2B5EF4-FFF2-40B4-BE49-F238E27FC236}">
                <a16:creationId xmlns="" xmlns:a16="http://schemas.microsoft.com/office/drawing/2014/main" id="{19594D45-1E6D-4B0D-997F-EC22E1DF48DC}"/>
              </a:ext>
            </a:extLst>
          </p:cNvPr>
          <p:cNvSpPr txBox="1"/>
          <p:nvPr/>
        </p:nvSpPr>
        <p:spPr>
          <a:xfrm>
            <a:off x="10270836" y="4014812"/>
            <a:ext cx="7543800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39"/>
              </a:lnSpc>
              <a:spcBef>
                <a:spcPct val="0"/>
              </a:spcBef>
            </a:pPr>
            <a:r>
              <a:rPr lang="en-US" altLang="ko-KR" sz="3200" dirty="0" smtClean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1. </a:t>
            </a:r>
            <a:r>
              <a:rPr lang="ko-KR" altLang="en-US" sz="3200" dirty="0" smtClean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데이터 </a:t>
            </a:r>
            <a:r>
              <a:rPr lang="ko-KR" altLang="en-US" sz="3200" dirty="0" err="1" smtClean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라벨링</a:t>
            </a:r>
            <a:r>
              <a:rPr lang="ko-KR" altLang="en-US" sz="3200" dirty="0" smtClean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 </a:t>
            </a:r>
            <a:r>
              <a:rPr lang="en-US" altLang="ko-KR" sz="3200" dirty="0" smtClean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: </a:t>
            </a:r>
            <a:r>
              <a:rPr lang="ko-KR" altLang="en-US" sz="3200" dirty="0" err="1" smtClean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정답값</a:t>
            </a:r>
            <a:r>
              <a:rPr lang="en-US" altLang="ko-KR" sz="3200" dirty="0" smtClean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(Y</a:t>
            </a:r>
            <a:r>
              <a:rPr lang="en-US" altLang="ko-KR" sz="32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)</a:t>
            </a:r>
            <a:r>
              <a:rPr lang="ko-KR" altLang="en-US" sz="3200" dirty="0" smtClean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 생성</a:t>
            </a:r>
            <a:endParaRPr lang="en-US" altLang="ko-KR" sz="3200" dirty="0">
              <a:solidFill>
                <a:srgbClr val="E3E2DE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5693526" y="8279955"/>
            <a:ext cx="3624350" cy="1219200"/>
            <a:chOff x="3519399" y="8560244"/>
            <a:chExt cx="3624350" cy="1219200"/>
          </a:xfrm>
        </p:grpSpPr>
        <p:sp>
          <p:nvSpPr>
            <p:cNvPr id="7" name="직사각형 6"/>
            <p:cNvSpPr/>
            <p:nvPr/>
          </p:nvSpPr>
          <p:spPr>
            <a:xfrm>
              <a:off x="3519399" y="8560244"/>
              <a:ext cx="3429001" cy="1219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" name="TextBox 11">
              <a:extLst>
                <a:ext uri="{FF2B5EF4-FFF2-40B4-BE49-F238E27FC236}">
                  <a16:creationId xmlns="" xmlns:a16="http://schemas.microsoft.com/office/drawing/2014/main" id="{19594D45-1E6D-4B0D-997F-EC22E1DF48DC}"/>
                </a:ext>
              </a:extLst>
            </p:cNvPr>
            <p:cNvSpPr txBox="1"/>
            <p:nvPr/>
          </p:nvSpPr>
          <p:spPr>
            <a:xfrm>
              <a:off x="3676649" y="8645429"/>
              <a:ext cx="3467100" cy="984885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spcBef>
                  <a:spcPct val="0"/>
                </a:spcBef>
              </a:pPr>
              <a:r>
                <a:rPr lang="ko-KR" altLang="en-US" sz="3200" dirty="0" smtClean="0">
                  <a:latin typeface="페이퍼로지 6 SemiBold" pitchFamily="2" charset="-127"/>
                  <a:ea typeface="페이퍼로지 6 SemiBold" pitchFamily="2" charset="-127"/>
                  <a:cs typeface="Work Sans"/>
                  <a:sym typeface="Work Sans"/>
                </a:rPr>
                <a:t>성공</a:t>
              </a:r>
              <a:r>
                <a:rPr lang="en-US" altLang="ko-KR" sz="3200" dirty="0" smtClean="0">
                  <a:latin typeface="페이퍼로지 6 SemiBold" pitchFamily="2" charset="-127"/>
                  <a:ea typeface="페이퍼로지 6 SemiBold" pitchFamily="2" charset="-127"/>
                  <a:cs typeface="Work Sans"/>
                  <a:sym typeface="Work Sans"/>
                </a:rPr>
                <a:t>(1) : </a:t>
              </a:r>
              <a:r>
                <a:rPr lang="ko-KR" altLang="en-US" sz="3200" dirty="0" smtClean="0">
                  <a:latin typeface="페이퍼로지 6 SemiBold" pitchFamily="2" charset="-127"/>
                  <a:ea typeface="페이퍼로지 6 SemiBold" pitchFamily="2" charset="-127"/>
                  <a:cs typeface="Work Sans"/>
                  <a:sym typeface="Work Sans"/>
                </a:rPr>
                <a:t>실패</a:t>
              </a:r>
              <a:r>
                <a:rPr lang="en-US" altLang="ko-KR" sz="3200" dirty="0" smtClean="0">
                  <a:latin typeface="페이퍼로지 6 SemiBold" pitchFamily="2" charset="-127"/>
                  <a:ea typeface="페이퍼로지 6 SemiBold" pitchFamily="2" charset="-127"/>
                  <a:cs typeface="Work Sans"/>
                  <a:sym typeface="Work Sans"/>
                </a:rPr>
                <a:t>(0) </a:t>
              </a:r>
            </a:p>
            <a:p>
              <a:pPr algn="just">
                <a:spcBef>
                  <a:spcPct val="0"/>
                </a:spcBef>
              </a:pPr>
              <a:r>
                <a:rPr lang="en-US" altLang="ko-KR" sz="3200" dirty="0" smtClean="0">
                  <a:latin typeface="페이퍼로지 6 SemiBold" pitchFamily="2" charset="-127"/>
                  <a:ea typeface="페이퍼로지 6 SemiBold" pitchFamily="2" charset="-127"/>
                  <a:cs typeface="Work Sans"/>
                  <a:sym typeface="Work Sans"/>
                </a:rPr>
                <a:t>51.54 : 48.45</a:t>
              </a:r>
              <a:endParaRPr lang="en-US" altLang="ko-KR" sz="3200" dirty="0"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endParaRPr>
            </a:p>
          </p:txBody>
        </p:sp>
      </p:grpSp>
      <p:cxnSp>
        <p:nvCxnSpPr>
          <p:cNvPr id="10" name="직선 화살표 연결선 9"/>
          <p:cNvCxnSpPr>
            <a:stCxn id="7" idx="3"/>
          </p:cNvCxnSpPr>
          <p:nvPr/>
        </p:nvCxnSpPr>
        <p:spPr>
          <a:xfrm flipV="1">
            <a:off x="9122527" y="7277100"/>
            <a:ext cx="1393073" cy="1612455"/>
          </a:xfrm>
          <a:prstGeom prst="straightConnector1">
            <a:avLst/>
          </a:prstGeom>
          <a:ln w="571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2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6"/>
          <p:cNvGrpSpPr/>
          <p:nvPr/>
        </p:nvGrpSpPr>
        <p:grpSpPr>
          <a:xfrm rot="5400000">
            <a:off x="16901475" y="129226"/>
            <a:ext cx="552450" cy="979799"/>
            <a:chOff x="0" y="0"/>
            <a:chExt cx="189122" cy="33541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89122" cy="335417"/>
            </a:xfrm>
            <a:custGeom>
              <a:avLst/>
              <a:gdLst/>
              <a:ahLst/>
              <a:cxnLst/>
              <a:rect l="l" t="t" r="r" b="b"/>
              <a:pathLst>
                <a:path w="189122" h="335417">
                  <a:moveTo>
                    <a:pt x="94561" y="0"/>
                  </a:moveTo>
                  <a:lnTo>
                    <a:pt x="94561" y="0"/>
                  </a:lnTo>
                  <a:cubicBezTo>
                    <a:pt x="146785" y="0"/>
                    <a:pt x="189122" y="42336"/>
                    <a:pt x="189122" y="94561"/>
                  </a:cubicBezTo>
                  <a:lnTo>
                    <a:pt x="189122" y="240856"/>
                  </a:lnTo>
                  <a:cubicBezTo>
                    <a:pt x="189122" y="265936"/>
                    <a:pt x="179159" y="289988"/>
                    <a:pt x="161425" y="307721"/>
                  </a:cubicBezTo>
                  <a:cubicBezTo>
                    <a:pt x="143692" y="325455"/>
                    <a:pt x="119640" y="335417"/>
                    <a:pt x="94561" y="335417"/>
                  </a:cubicBezTo>
                  <a:lnTo>
                    <a:pt x="94561" y="335417"/>
                  </a:lnTo>
                  <a:cubicBezTo>
                    <a:pt x="42336" y="335417"/>
                    <a:pt x="0" y="293081"/>
                    <a:pt x="0" y="240856"/>
                  </a:cubicBezTo>
                  <a:lnTo>
                    <a:pt x="0" y="94561"/>
                  </a:lnTo>
                  <a:cubicBezTo>
                    <a:pt x="0" y="69482"/>
                    <a:pt x="9963" y="45430"/>
                    <a:pt x="27696" y="27696"/>
                  </a:cubicBezTo>
                  <a:cubicBezTo>
                    <a:pt x="45430" y="9963"/>
                    <a:pt x="69482" y="0"/>
                    <a:pt x="945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E3E2DE"/>
              </a:solidFill>
              <a:prstDash val="solid"/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189122" cy="344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6687801" y="500064"/>
            <a:ext cx="979799" cy="291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06</a:t>
            </a:r>
          </a:p>
        </p:txBody>
      </p:sp>
      <p:sp>
        <p:nvSpPr>
          <p:cNvPr id="31" name="TextBox 6">
            <a:extLst>
              <a:ext uri="{FF2B5EF4-FFF2-40B4-BE49-F238E27FC236}">
                <a16:creationId xmlns="" xmlns:a16="http://schemas.microsoft.com/office/drawing/2014/main" id="{C6464847-34D4-4614-AEDA-C387F7125F5D}"/>
              </a:ext>
            </a:extLst>
          </p:cNvPr>
          <p:cNvSpPr txBox="1"/>
          <p:nvPr/>
        </p:nvSpPr>
        <p:spPr>
          <a:xfrm>
            <a:off x="476250" y="276225"/>
            <a:ext cx="17335500" cy="19236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8800" b="1" spc="-825" dirty="0">
                <a:solidFill>
                  <a:srgbClr val="1351AA"/>
                </a:solidFill>
                <a:latin typeface="Aileron Heavy"/>
                <a:ea typeface="Aileron Heavy"/>
                <a:cs typeface="Aileron Heavy"/>
                <a:sym typeface="Aileron Heavy"/>
              </a:rPr>
              <a:t>Key Implementations &amp; Demo</a:t>
            </a:r>
          </a:p>
        </p:txBody>
      </p:sp>
      <p:sp>
        <p:nvSpPr>
          <p:cNvPr id="32" name="TextBox 11">
            <a:extLst>
              <a:ext uri="{FF2B5EF4-FFF2-40B4-BE49-F238E27FC236}">
                <a16:creationId xmlns="" xmlns:a16="http://schemas.microsoft.com/office/drawing/2014/main" id="{19594D45-1E6D-4B0D-997F-EC22E1DF48DC}"/>
              </a:ext>
            </a:extLst>
          </p:cNvPr>
          <p:cNvSpPr txBox="1"/>
          <p:nvPr/>
        </p:nvSpPr>
        <p:spPr>
          <a:xfrm>
            <a:off x="609600" y="2387505"/>
            <a:ext cx="7543800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39"/>
              </a:lnSpc>
              <a:spcBef>
                <a:spcPct val="0"/>
              </a:spcBef>
            </a:pPr>
            <a:r>
              <a:rPr lang="en-US" altLang="ko-KR" sz="32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ML </a:t>
            </a:r>
            <a:r>
              <a:rPr lang="ko-KR" altLang="en-US" sz="32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모델</a:t>
            </a:r>
            <a:r>
              <a:rPr lang="en-US" altLang="ko-KR" sz="32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(ver.1)</a:t>
            </a:r>
            <a:r>
              <a:rPr lang="ko-KR" altLang="en-US" sz="32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 </a:t>
            </a:r>
            <a:r>
              <a:rPr lang="ko-KR" altLang="en-US" sz="32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구축 </a:t>
            </a:r>
            <a:r>
              <a:rPr lang="ko-KR" altLang="en-US" sz="32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과정</a:t>
            </a:r>
            <a:endParaRPr lang="en-US" altLang="ko-KR" sz="3200" dirty="0">
              <a:solidFill>
                <a:srgbClr val="1351AA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9594D45-1E6D-4B0D-997F-EC22E1DF48DC}"/>
              </a:ext>
            </a:extLst>
          </p:cNvPr>
          <p:cNvSpPr txBox="1"/>
          <p:nvPr/>
        </p:nvSpPr>
        <p:spPr>
          <a:xfrm>
            <a:off x="10197292" y="5442109"/>
            <a:ext cx="7543800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spcBef>
                <a:spcPct val="0"/>
              </a:spcBef>
              <a:buFontTx/>
              <a:buChar char="-"/>
            </a:pPr>
            <a:r>
              <a:rPr lang="ko-KR" altLang="en-US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표준화</a:t>
            </a:r>
            <a:r>
              <a:rPr lang="en-US" altLang="ko-KR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(</a:t>
            </a:r>
            <a:r>
              <a:rPr lang="en-US" altLang="ko-KR" sz="2400" dirty="0" err="1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StandardScaler</a:t>
            </a:r>
            <a:r>
              <a:rPr lang="en-US" altLang="ko-KR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) : </a:t>
            </a:r>
            <a:r>
              <a:rPr lang="ko-KR" altLang="en-US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매출액</a:t>
            </a:r>
            <a:r>
              <a:rPr lang="en-US" altLang="ko-KR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(</a:t>
            </a:r>
            <a:r>
              <a:rPr lang="ko-KR" altLang="en-US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억 단위</a:t>
            </a:r>
            <a:r>
              <a:rPr lang="en-US" altLang="ko-KR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)</a:t>
            </a:r>
            <a:r>
              <a:rPr lang="ko-KR" altLang="en-US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와 점포 수</a:t>
            </a:r>
            <a:r>
              <a:rPr lang="en-US" altLang="ko-KR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(</a:t>
            </a:r>
            <a:r>
              <a:rPr lang="ko-KR" altLang="en-US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개 단위</a:t>
            </a:r>
            <a:r>
              <a:rPr lang="en-US" altLang="ko-KR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)</a:t>
            </a:r>
            <a:r>
              <a:rPr lang="ko-KR" altLang="en-US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등과 </a:t>
            </a:r>
            <a:r>
              <a:rPr lang="ko-KR" altLang="en-US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같이 판이한 단위를 평균 </a:t>
            </a:r>
            <a:r>
              <a:rPr lang="en-US" altLang="ko-KR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0, </a:t>
            </a:r>
            <a:r>
              <a:rPr lang="ko-KR" altLang="en-US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표준편차 </a:t>
            </a:r>
            <a:r>
              <a:rPr lang="en-US" altLang="ko-KR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1</a:t>
            </a:r>
            <a:r>
              <a:rPr lang="ko-KR" altLang="en-US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로 맞춰 모델의 학습 속도와 안정성을 </a:t>
            </a:r>
            <a:r>
              <a:rPr lang="ko-KR" altLang="en-US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확보</a:t>
            </a:r>
            <a:endParaRPr lang="en-US" altLang="ko-KR" sz="2400" dirty="0" smtClean="0">
              <a:solidFill>
                <a:srgbClr val="1351AA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  <a:p>
            <a:pPr marL="342900" indent="-342900" algn="just">
              <a:spcBef>
                <a:spcPct val="0"/>
              </a:spcBef>
              <a:buFontTx/>
              <a:buChar char="-"/>
            </a:pPr>
            <a:endParaRPr lang="en-US" altLang="ko-KR" sz="2400" dirty="0">
              <a:solidFill>
                <a:srgbClr val="1351AA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  <a:p>
            <a:pPr marL="342900" indent="-342900" algn="just">
              <a:spcBef>
                <a:spcPct val="0"/>
              </a:spcBef>
              <a:buFontTx/>
              <a:buChar char="-"/>
            </a:pPr>
            <a:r>
              <a:rPr lang="ko-KR" altLang="en-US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훈련</a:t>
            </a:r>
            <a:r>
              <a:rPr lang="en-US" altLang="ko-KR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/</a:t>
            </a:r>
            <a:r>
              <a:rPr lang="ko-KR" altLang="en-US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테스트 분리 </a:t>
            </a:r>
            <a:r>
              <a:rPr lang="en-US" altLang="ko-KR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: </a:t>
            </a:r>
            <a:r>
              <a:rPr lang="ko-KR" altLang="en-US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데이터를 </a:t>
            </a:r>
            <a:r>
              <a:rPr lang="en-US" altLang="ko-KR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8:2</a:t>
            </a:r>
            <a:r>
              <a:rPr lang="ko-KR" altLang="en-US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로 나누어 모델이 한 번도 보지 </a:t>
            </a:r>
            <a:r>
              <a:rPr lang="ko-KR" altLang="en-US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못한  데이터로 실전 테스트를 치르도록 </a:t>
            </a:r>
            <a:r>
              <a:rPr lang="ko-KR" altLang="en-US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설계</a:t>
            </a:r>
            <a:endParaRPr lang="en-US" altLang="ko-KR" sz="2400" dirty="0">
              <a:solidFill>
                <a:srgbClr val="1351AA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</p:txBody>
      </p:sp>
      <p:sp>
        <p:nvSpPr>
          <p:cNvPr id="20" name="TextBox 11">
            <a:extLst>
              <a:ext uri="{FF2B5EF4-FFF2-40B4-BE49-F238E27FC236}">
                <a16:creationId xmlns="" xmlns:a16="http://schemas.microsoft.com/office/drawing/2014/main" id="{19594D45-1E6D-4B0D-997F-EC22E1DF48DC}"/>
              </a:ext>
            </a:extLst>
          </p:cNvPr>
          <p:cNvSpPr txBox="1"/>
          <p:nvPr/>
        </p:nvSpPr>
        <p:spPr>
          <a:xfrm>
            <a:off x="10270836" y="4457700"/>
            <a:ext cx="7543800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39"/>
              </a:lnSpc>
              <a:spcBef>
                <a:spcPct val="0"/>
              </a:spcBef>
            </a:pPr>
            <a:r>
              <a:rPr lang="en-US" altLang="ko-KR" sz="32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2. </a:t>
            </a:r>
            <a:r>
              <a:rPr lang="ko-KR" altLang="en-US" sz="32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데이터 전처리 및 스케일링</a:t>
            </a:r>
            <a:endParaRPr lang="en-US" altLang="ko-KR" sz="3200" dirty="0">
              <a:solidFill>
                <a:srgbClr val="1351AA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</p:txBody>
      </p:sp>
      <p:grpSp>
        <p:nvGrpSpPr>
          <p:cNvPr id="15" name="Group 26"/>
          <p:cNvGrpSpPr/>
          <p:nvPr/>
        </p:nvGrpSpPr>
        <p:grpSpPr>
          <a:xfrm rot="5400000">
            <a:off x="17053875" y="281626"/>
            <a:ext cx="552450" cy="979799"/>
            <a:chOff x="0" y="0"/>
            <a:chExt cx="189122" cy="335417"/>
          </a:xfrm>
        </p:grpSpPr>
        <p:sp>
          <p:nvSpPr>
            <p:cNvPr id="16" name="Freeform 27"/>
            <p:cNvSpPr/>
            <p:nvPr/>
          </p:nvSpPr>
          <p:spPr>
            <a:xfrm>
              <a:off x="0" y="0"/>
              <a:ext cx="189122" cy="335417"/>
            </a:xfrm>
            <a:custGeom>
              <a:avLst/>
              <a:gdLst/>
              <a:ahLst/>
              <a:cxnLst/>
              <a:rect l="l" t="t" r="r" b="b"/>
              <a:pathLst>
                <a:path w="189122" h="335417">
                  <a:moveTo>
                    <a:pt x="94561" y="0"/>
                  </a:moveTo>
                  <a:lnTo>
                    <a:pt x="94561" y="0"/>
                  </a:lnTo>
                  <a:cubicBezTo>
                    <a:pt x="146785" y="0"/>
                    <a:pt x="189122" y="42336"/>
                    <a:pt x="189122" y="94561"/>
                  </a:cubicBezTo>
                  <a:lnTo>
                    <a:pt x="189122" y="240856"/>
                  </a:lnTo>
                  <a:cubicBezTo>
                    <a:pt x="189122" y="265936"/>
                    <a:pt x="179159" y="289988"/>
                    <a:pt x="161425" y="307721"/>
                  </a:cubicBezTo>
                  <a:cubicBezTo>
                    <a:pt x="143692" y="325455"/>
                    <a:pt x="119640" y="335417"/>
                    <a:pt x="94561" y="335417"/>
                  </a:cubicBezTo>
                  <a:lnTo>
                    <a:pt x="94561" y="335417"/>
                  </a:lnTo>
                  <a:cubicBezTo>
                    <a:pt x="42336" y="335417"/>
                    <a:pt x="0" y="293081"/>
                    <a:pt x="0" y="240856"/>
                  </a:cubicBezTo>
                  <a:lnTo>
                    <a:pt x="0" y="94561"/>
                  </a:lnTo>
                  <a:cubicBezTo>
                    <a:pt x="0" y="69482"/>
                    <a:pt x="9963" y="45430"/>
                    <a:pt x="27696" y="27696"/>
                  </a:cubicBezTo>
                  <a:cubicBezTo>
                    <a:pt x="45430" y="9963"/>
                    <a:pt x="69482" y="0"/>
                    <a:pt x="945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E3E2DE"/>
              </a:solidFill>
              <a:prstDash val="solid"/>
              <a:round/>
            </a:ln>
          </p:spPr>
        </p:sp>
        <p:sp>
          <p:nvSpPr>
            <p:cNvPr id="17" name="TextBox 28"/>
            <p:cNvSpPr txBox="1"/>
            <p:nvPr/>
          </p:nvSpPr>
          <p:spPr>
            <a:xfrm>
              <a:off x="0" y="-9525"/>
              <a:ext cx="189122" cy="344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9"/>
                </a:lnSpc>
              </a:pPr>
              <a:endParaRPr>
                <a:solidFill>
                  <a:srgbClr val="1351AA"/>
                </a:solidFill>
              </a:endParaRPr>
            </a:p>
          </p:txBody>
        </p:sp>
      </p:grpSp>
      <p:grpSp>
        <p:nvGrpSpPr>
          <p:cNvPr id="19" name="Group 11"/>
          <p:cNvGrpSpPr/>
          <p:nvPr/>
        </p:nvGrpSpPr>
        <p:grpSpPr>
          <a:xfrm rot="5400000">
            <a:off x="17053875" y="281626"/>
            <a:ext cx="552450" cy="979799"/>
            <a:chOff x="0" y="0"/>
            <a:chExt cx="189122" cy="335417"/>
          </a:xfrm>
        </p:grpSpPr>
        <p:sp>
          <p:nvSpPr>
            <p:cNvPr id="21" name="Freeform 12"/>
            <p:cNvSpPr/>
            <p:nvPr/>
          </p:nvSpPr>
          <p:spPr>
            <a:xfrm>
              <a:off x="0" y="0"/>
              <a:ext cx="189122" cy="335417"/>
            </a:xfrm>
            <a:custGeom>
              <a:avLst/>
              <a:gdLst/>
              <a:ahLst/>
              <a:cxnLst/>
              <a:rect l="l" t="t" r="r" b="b"/>
              <a:pathLst>
                <a:path w="189122" h="335417">
                  <a:moveTo>
                    <a:pt x="94561" y="0"/>
                  </a:moveTo>
                  <a:lnTo>
                    <a:pt x="94561" y="0"/>
                  </a:lnTo>
                  <a:cubicBezTo>
                    <a:pt x="146785" y="0"/>
                    <a:pt x="189122" y="42336"/>
                    <a:pt x="189122" y="94561"/>
                  </a:cubicBezTo>
                  <a:lnTo>
                    <a:pt x="189122" y="240856"/>
                  </a:lnTo>
                  <a:cubicBezTo>
                    <a:pt x="189122" y="265936"/>
                    <a:pt x="179159" y="289988"/>
                    <a:pt x="161425" y="307721"/>
                  </a:cubicBezTo>
                  <a:cubicBezTo>
                    <a:pt x="143692" y="325455"/>
                    <a:pt x="119640" y="335417"/>
                    <a:pt x="94561" y="335417"/>
                  </a:cubicBezTo>
                  <a:lnTo>
                    <a:pt x="94561" y="335417"/>
                  </a:lnTo>
                  <a:cubicBezTo>
                    <a:pt x="42336" y="335417"/>
                    <a:pt x="0" y="293081"/>
                    <a:pt x="0" y="240856"/>
                  </a:cubicBezTo>
                  <a:lnTo>
                    <a:pt x="0" y="94561"/>
                  </a:lnTo>
                  <a:cubicBezTo>
                    <a:pt x="0" y="69482"/>
                    <a:pt x="9963" y="45430"/>
                    <a:pt x="27696" y="27696"/>
                  </a:cubicBezTo>
                  <a:cubicBezTo>
                    <a:pt x="45430" y="9963"/>
                    <a:pt x="69482" y="0"/>
                    <a:pt x="945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1351AA"/>
              </a:solidFill>
              <a:prstDash val="solid"/>
              <a:round/>
            </a:ln>
          </p:spPr>
        </p:sp>
        <p:sp>
          <p:nvSpPr>
            <p:cNvPr id="23" name="TextBox 13"/>
            <p:cNvSpPr txBox="1"/>
            <p:nvPr/>
          </p:nvSpPr>
          <p:spPr>
            <a:xfrm>
              <a:off x="0" y="-9525"/>
              <a:ext cx="189122" cy="344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9"/>
                </a:lnSpc>
              </a:pPr>
              <a:endParaRPr/>
            </a:p>
          </p:txBody>
        </p:sp>
      </p:grpSp>
      <p:sp>
        <p:nvSpPr>
          <p:cNvPr id="24" name="TextBox 14"/>
          <p:cNvSpPr txBox="1"/>
          <p:nvPr/>
        </p:nvSpPr>
        <p:spPr>
          <a:xfrm>
            <a:off x="16840201" y="652464"/>
            <a:ext cx="979799" cy="291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9"/>
              </a:lnSpc>
              <a:spcBef>
                <a:spcPct val="0"/>
              </a:spcBef>
            </a:pPr>
            <a:r>
              <a:rPr lang="en-US" sz="2499" b="1" dirty="0" smtClean="0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07</a:t>
            </a:r>
            <a:endParaRPr lang="en-US" sz="2499" b="1" dirty="0">
              <a:solidFill>
                <a:srgbClr val="1351AA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174" y="3217227"/>
            <a:ext cx="8503626" cy="6498273"/>
          </a:xfrm>
          <a:prstGeom prst="rect">
            <a:avLst/>
          </a:prstGeom>
          <a:noFill/>
          <a:ln w="57150">
            <a:solidFill>
              <a:srgbClr val="1351AA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6959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51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 rot="5400000">
            <a:off x="16977675" y="338775"/>
            <a:ext cx="552450" cy="979799"/>
            <a:chOff x="0" y="0"/>
            <a:chExt cx="189122" cy="33541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9122" cy="335417"/>
            </a:xfrm>
            <a:custGeom>
              <a:avLst/>
              <a:gdLst/>
              <a:ahLst/>
              <a:cxnLst/>
              <a:rect l="l" t="t" r="r" b="b"/>
              <a:pathLst>
                <a:path w="189122" h="335417">
                  <a:moveTo>
                    <a:pt x="94561" y="0"/>
                  </a:moveTo>
                  <a:lnTo>
                    <a:pt x="94561" y="0"/>
                  </a:lnTo>
                  <a:cubicBezTo>
                    <a:pt x="146785" y="0"/>
                    <a:pt x="189122" y="42336"/>
                    <a:pt x="189122" y="94561"/>
                  </a:cubicBezTo>
                  <a:lnTo>
                    <a:pt x="189122" y="240856"/>
                  </a:lnTo>
                  <a:cubicBezTo>
                    <a:pt x="189122" y="265936"/>
                    <a:pt x="179159" y="289988"/>
                    <a:pt x="161425" y="307721"/>
                  </a:cubicBezTo>
                  <a:cubicBezTo>
                    <a:pt x="143692" y="325455"/>
                    <a:pt x="119640" y="335417"/>
                    <a:pt x="94561" y="335417"/>
                  </a:cubicBezTo>
                  <a:lnTo>
                    <a:pt x="94561" y="335417"/>
                  </a:lnTo>
                  <a:cubicBezTo>
                    <a:pt x="42336" y="335417"/>
                    <a:pt x="0" y="293081"/>
                    <a:pt x="0" y="240856"/>
                  </a:cubicBezTo>
                  <a:lnTo>
                    <a:pt x="0" y="94561"/>
                  </a:lnTo>
                  <a:cubicBezTo>
                    <a:pt x="0" y="69482"/>
                    <a:pt x="9963" y="45430"/>
                    <a:pt x="27696" y="27696"/>
                  </a:cubicBezTo>
                  <a:cubicBezTo>
                    <a:pt x="45430" y="9963"/>
                    <a:pt x="69482" y="0"/>
                    <a:pt x="945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1351AA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89122" cy="344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6764001" y="709613"/>
            <a:ext cx="979799" cy="291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03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="" xmlns:a16="http://schemas.microsoft.com/office/drawing/2014/main" id="{BE048569-9CAB-42E7-972D-453DA2C1F8B6}"/>
              </a:ext>
            </a:extLst>
          </p:cNvPr>
          <p:cNvSpPr txBox="1"/>
          <p:nvPr/>
        </p:nvSpPr>
        <p:spPr>
          <a:xfrm>
            <a:off x="381000" y="190500"/>
            <a:ext cx="15979104" cy="1688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8800" b="1" spc="-825" dirty="0" smtClean="0">
                <a:solidFill>
                  <a:srgbClr val="E3E2DE"/>
                </a:solidFill>
                <a:latin typeface="Aileron Heavy"/>
                <a:ea typeface="Aileron Heavy"/>
                <a:cs typeface="Aileron Heavy"/>
                <a:sym typeface="Aileron Heavy"/>
              </a:rPr>
              <a:t>Key </a:t>
            </a:r>
            <a:r>
              <a:rPr lang="en-US" sz="8800" b="1" spc="-825" dirty="0" smtClean="0">
                <a:solidFill>
                  <a:srgbClr val="E3E2DE"/>
                </a:solidFill>
                <a:latin typeface="Aileron Heavy"/>
                <a:ea typeface="Aileron Heavy"/>
                <a:cs typeface="Aileron Heavy"/>
                <a:sym typeface="Aileron Heavy"/>
              </a:rPr>
              <a:t>Implementations&amp; Demo</a:t>
            </a:r>
            <a:endParaRPr lang="en-US" sz="8800" b="1" spc="-825" dirty="0">
              <a:solidFill>
                <a:srgbClr val="E3E2DE"/>
              </a:solidFill>
              <a:latin typeface="Aileron Heavy"/>
              <a:ea typeface="Aileron Heavy"/>
              <a:cs typeface="Aileron Heavy"/>
              <a:sym typeface="Aileron Heavy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EA7A16AE-7952-426F-8995-6C891AA20B2A}"/>
              </a:ext>
            </a:extLst>
          </p:cNvPr>
          <p:cNvSpPr txBox="1"/>
          <p:nvPr/>
        </p:nvSpPr>
        <p:spPr>
          <a:xfrm>
            <a:off x="9496728" y="3543300"/>
            <a:ext cx="81054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spc="-150" dirty="0" smtClean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sym typeface="Work Sans Bold"/>
              </a:rPr>
              <a:t>3. </a:t>
            </a:r>
            <a:r>
              <a:rPr lang="ko-KR" altLang="en-US" sz="3200" spc="-150" dirty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sym typeface="Work Sans Bold"/>
              </a:rPr>
              <a:t>모델 선정</a:t>
            </a:r>
            <a:r>
              <a:rPr lang="en-US" altLang="ko-KR" sz="3200" spc="-150" dirty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sym typeface="Work Sans Bold"/>
              </a:rPr>
              <a:t>: </a:t>
            </a:r>
            <a:r>
              <a:rPr lang="ko-KR" altLang="en-US" sz="3200" spc="-150" dirty="0" err="1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sym typeface="Work Sans Bold"/>
              </a:rPr>
              <a:t>로지스틱</a:t>
            </a:r>
            <a:r>
              <a:rPr lang="ko-KR" altLang="en-US" sz="3200" spc="-150" dirty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sym typeface="Work Sans Bold"/>
              </a:rPr>
              <a:t> 회귀 </a:t>
            </a:r>
            <a:r>
              <a:rPr lang="en-US" altLang="ko-KR" sz="3200" spc="-150" dirty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sym typeface="Work Sans Bold"/>
              </a:rPr>
              <a:t>vs </a:t>
            </a:r>
            <a:r>
              <a:rPr lang="en-US" altLang="ko-KR" sz="3200" spc="-150" dirty="0" err="1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sym typeface="Work Sans Bold"/>
              </a:rPr>
              <a:t>XGBoost</a:t>
            </a:r>
            <a:endParaRPr lang="ko-KR" altLang="en-US" sz="3200" spc="-150" dirty="0">
              <a:solidFill>
                <a:srgbClr val="E3E2DE"/>
              </a:solidFill>
              <a:latin typeface="페이퍼로지 6 SemiBold" charset="-127"/>
              <a:ea typeface="페이퍼로지 6 SemiBold" charset="-127"/>
            </a:endParaRPr>
          </a:p>
        </p:txBody>
      </p:sp>
      <p:sp>
        <p:nvSpPr>
          <p:cNvPr id="24" name="TextBox 8">
            <a:extLst>
              <a:ext uri="{FF2B5EF4-FFF2-40B4-BE49-F238E27FC236}">
                <a16:creationId xmlns="" xmlns:a16="http://schemas.microsoft.com/office/drawing/2014/main" id="{15E7FAE5-48F9-4F7A-A7B1-0BED4388D9FA}"/>
              </a:ext>
            </a:extLst>
          </p:cNvPr>
          <p:cNvSpPr txBox="1"/>
          <p:nvPr/>
        </p:nvSpPr>
        <p:spPr>
          <a:xfrm>
            <a:off x="9494006" y="4457700"/>
            <a:ext cx="8317743" cy="4090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1" indent="-342900">
              <a:lnSpc>
                <a:spcPts val="2859"/>
              </a:lnSpc>
              <a:buFontTx/>
              <a:buChar char="-"/>
            </a:pPr>
            <a:r>
              <a:rPr lang="ko-KR" altLang="en-US" sz="2400" b="1" dirty="0" smtClean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비교 </a:t>
            </a:r>
            <a:r>
              <a:rPr lang="ko-KR" altLang="en-US" sz="2400" b="1" dirty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분석</a:t>
            </a:r>
            <a:r>
              <a:rPr lang="en-US" altLang="ko-KR" sz="2400" b="1" dirty="0" smtClean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: </a:t>
            </a:r>
            <a:r>
              <a:rPr lang="ko-KR" altLang="en-US" sz="2400" b="1" dirty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단순 선형 모델</a:t>
            </a:r>
            <a:r>
              <a:rPr lang="en-US" altLang="ko-KR" sz="2400" b="1" dirty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(</a:t>
            </a:r>
            <a:r>
              <a:rPr lang="ko-KR" altLang="en-US" sz="2400" b="1" dirty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회귀</a:t>
            </a:r>
            <a:r>
              <a:rPr lang="en-US" altLang="ko-KR" sz="2400" b="1" dirty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)</a:t>
            </a:r>
            <a:r>
              <a:rPr lang="ko-KR" altLang="en-US" sz="2400" b="1" dirty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은 복합적인 상권 변수 간의 시너지를 포착하기에 한계가 </a:t>
            </a:r>
            <a:r>
              <a:rPr lang="ko-KR" altLang="en-US" sz="2400" b="1" dirty="0" smtClean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있음</a:t>
            </a:r>
            <a:endParaRPr lang="en-US" altLang="ko-KR" sz="2400" b="1" dirty="0" smtClean="0">
              <a:solidFill>
                <a:srgbClr val="E3E2DE"/>
              </a:solidFill>
              <a:latin typeface="페이퍼로지 6 SemiBold" charset="-127"/>
              <a:ea typeface="페이퍼로지 6 SemiBold" charset="-127"/>
              <a:cs typeface="Work Sans Bold"/>
              <a:sym typeface="Work Sans Bold"/>
            </a:endParaRPr>
          </a:p>
          <a:p>
            <a:pPr marL="342900" lvl="1" indent="-342900">
              <a:lnSpc>
                <a:spcPts val="2859"/>
              </a:lnSpc>
              <a:buFontTx/>
              <a:buChar char="-"/>
            </a:pPr>
            <a:endParaRPr lang="en-US" altLang="ko-KR" sz="2400" b="1" dirty="0">
              <a:solidFill>
                <a:srgbClr val="E3E2DE"/>
              </a:solidFill>
              <a:latin typeface="페이퍼로지 6 SemiBold" charset="-127"/>
              <a:ea typeface="페이퍼로지 6 SemiBold" charset="-127"/>
              <a:cs typeface="Work Sans Bold"/>
              <a:sym typeface="Work Sans Bold"/>
            </a:endParaRPr>
          </a:p>
          <a:p>
            <a:pPr marL="342900" lvl="1" indent="-342900">
              <a:lnSpc>
                <a:spcPts val="2859"/>
              </a:lnSpc>
              <a:buFontTx/>
              <a:buChar char="-"/>
            </a:pPr>
            <a:r>
              <a:rPr lang="en-US" altLang="ko-KR" sz="2400" b="1" dirty="0" err="1" smtClean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XGBoost</a:t>
            </a:r>
            <a:r>
              <a:rPr lang="en-US" altLang="ko-KR" sz="2400" b="1" dirty="0" smtClean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 </a:t>
            </a:r>
            <a:r>
              <a:rPr lang="ko-KR" altLang="en-US" sz="2400" b="1" dirty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채택 이유</a:t>
            </a:r>
            <a:r>
              <a:rPr lang="en-US" altLang="ko-KR" sz="2400" b="1" dirty="0" smtClean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: </a:t>
            </a:r>
            <a:r>
              <a:rPr lang="ko-KR" altLang="en-US" sz="2400" b="1" dirty="0" smtClean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유동인구</a:t>
            </a:r>
            <a:r>
              <a:rPr lang="en-US" altLang="ko-KR" sz="2400" b="1" dirty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, </a:t>
            </a:r>
            <a:r>
              <a:rPr lang="ko-KR" altLang="en-US" sz="2400" b="1" dirty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매출</a:t>
            </a:r>
            <a:r>
              <a:rPr lang="en-US" altLang="ko-KR" sz="2400" b="1" dirty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, </a:t>
            </a:r>
            <a:r>
              <a:rPr lang="ko-KR" altLang="en-US" sz="2400" b="1" dirty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점포 수 사이의 복잡한 </a:t>
            </a:r>
            <a:r>
              <a:rPr lang="ko-KR" altLang="en-US" sz="2400" b="1" dirty="0" smtClean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비선형 관계를 </a:t>
            </a:r>
            <a:r>
              <a:rPr lang="ko-KR" altLang="en-US" sz="2400" b="1" dirty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학습하는 데 </a:t>
            </a:r>
            <a:r>
              <a:rPr lang="ko-KR" altLang="en-US" sz="2400" b="1" dirty="0" smtClean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최적화됨</a:t>
            </a:r>
            <a:endParaRPr lang="en-US" altLang="ko-KR" sz="2400" b="1" dirty="0" smtClean="0">
              <a:solidFill>
                <a:srgbClr val="E3E2DE"/>
              </a:solidFill>
              <a:latin typeface="페이퍼로지 6 SemiBold" charset="-127"/>
              <a:ea typeface="페이퍼로지 6 SemiBold" charset="-127"/>
              <a:cs typeface="Work Sans Bold"/>
              <a:sym typeface="Work Sans Bold"/>
            </a:endParaRPr>
          </a:p>
          <a:p>
            <a:pPr marL="0" lvl="1">
              <a:lnSpc>
                <a:spcPts val="2859"/>
              </a:lnSpc>
            </a:pPr>
            <a:endParaRPr lang="en-US" altLang="ko-KR" sz="2400" b="1" dirty="0" smtClean="0">
              <a:solidFill>
                <a:srgbClr val="E3E2DE"/>
              </a:solidFill>
              <a:latin typeface="페이퍼로지 6 SemiBold" charset="-127"/>
              <a:ea typeface="페이퍼로지 6 SemiBold" charset="-127"/>
              <a:cs typeface="Work Sans Bold"/>
              <a:sym typeface="Work Sans Bold"/>
            </a:endParaRPr>
          </a:p>
          <a:p>
            <a:pPr marL="342900" lvl="1" indent="-342900">
              <a:lnSpc>
                <a:spcPts val="2859"/>
              </a:lnSpc>
              <a:buFontTx/>
              <a:buChar char="-"/>
            </a:pPr>
            <a:r>
              <a:rPr lang="ko-KR" altLang="en-US" sz="2400" b="1" dirty="0" err="1" smtClean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이상치에</a:t>
            </a:r>
            <a:r>
              <a:rPr lang="ko-KR" altLang="en-US" sz="2400" b="1" dirty="0" smtClean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 </a:t>
            </a:r>
            <a:r>
              <a:rPr lang="ko-KR" altLang="en-US" sz="2400" b="1" dirty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강하며</a:t>
            </a:r>
            <a:r>
              <a:rPr lang="en-US" altLang="ko-KR" sz="2400" b="1" dirty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, </a:t>
            </a:r>
            <a:r>
              <a:rPr lang="ko-KR" altLang="en-US" sz="2400" b="1" dirty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변수 중요도를 통해 성공 요인을 수학적으로 증명 </a:t>
            </a:r>
            <a:r>
              <a:rPr lang="ko-KR" altLang="en-US" sz="2400" b="1" dirty="0" smtClean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가능함</a:t>
            </a:r>
            <a:endParaRPr lang="en-US" altLang="ko-KR" sz="2400" b="1" dirty="0" smtClean="0">
              <a:solidFill>
                <a:srgbClr val="E3E2DE"/>
              </a:solidFill>
              <a:latin typeface="페이퍼로지 6 SemiBold" charset="-127"/>
              <a:ea typeface="페이퍼로지 6 SemiBold" charset="-127"/>
              <a:cs typeface="Work Sans Bold"/>
              <a:sym typeface="Work Sans Bold"/>
            </a:endParaRPr>
          </a:p>
          <a:p>
            <a:pPr marL="342900" lvl="1" indent="-342900">
              <a:lnSpc>
                <a:spcPts val="2859"/>
              </a:lnSpc>
              <a:buFontTx/>
              <a:buChar char="-"/>
            </a:pPr>
            <a:endParaRPr lang="en-US" altLang="ko-KR" sz="2400" b="1" dirty="0">
              <a:solidFill>
                <a:srgbClr val="E3E2DE"/>
              </a:solidFill>
              <a:latin typeface="페이퍼로지 6 SemiBold" charset="-127"/>
              <a:ea typeface="페이퍼로지 6 SemiBold" charset="-127"/>
              <a:cs typeface="Work Sans Bold"/>
              <a:sym typeface="Work Sans Bold"/>
            </a:endParaRPr>
          </a:p>
          <a:p>
            <a:pPr marL="342900" lvl="1" indent="-342900">
              <a:lnSpc>
                <a:spcPts val="2859"/>
              </a:lnSpc>
              <a:buFontTx/>
              <a:buChar char="-"/>
            </a:pPr>
            <a:r>
              <a:rPr lang="ko-KR" altLang="en-US" sz="2400" b="1" dirty="0" smtClean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정확도 비교 결과 </a:t>
            </a:r>
            <a:r>
              <a:rPr lang="en-US" altLang="ko-KR" sz="2400" b="1" dirty="0" err="1" smtClean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XGBoost</a:t>
            </a:r>
            <a:r>
              <a:rPr lang="ko-KR" altLang="en-US" sz="2400" b="1" dirty="0" smtClean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가 압도적임</a:t>
            </a:r>
            <a:endParaRPr lang="en-US" altLang="ko-KR" sz="2400" b="1" dirty="0">
              <a:solidFill>
                <a:srgbClr val="E3E2DE"/>
              </a:solidFill>
              <a:latin typeface="페이퍼로지 6 SemiBold" charset="-127"/>
              <a:ea typeface="페이퍼로지 6 SemiBold" charset="-127"/>
              <a:cs typeface="Work Sans Bold"/>
              <a:sym typeface="Work Sans Bold"/>
            </a:endParaRPr>
          </a:p>
          <a:p>
            <a:pPr marL="0" lvl="1">
              <a:lnSpc>
                <a:spcPts val="2859"/>
              </a:lnSpc>
            </a:pPr>
            <a:endParaRPr lang="en-US" altLang="ko-KR" sz="2400" b="1" dirty="0" smtClean="0">
              <a:solidFill>
                <a:srgbClr val="E3E2DE"/>
              </a:solidFill>
              <a:latin typeface="페이퍼로지 6 SemiBold" charset="-127"/>
              <a:ea typeface="페이퍼로지 6 SemiBold" charset="-127"/>
              <a:cs typeface="Work Sans Bold"/>
              <a:sym typeface="Work Sans Bold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04553" y="2324691"/>
            <a:ext cx="4560287" cy="4257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ts val="2639"/>
              </a:lnSpc>
              <a:spcBef>
                <a:spcPct val="0"/>
              </a:spcBef>
            </a:pPr>
            <a:r>
              <a:rPr lang="en-US" altLang="ko-KR" sz="32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ML </a:t>
            </a:r>
            <a:r>
              <a:rPr lang="ko-KR" altLang="en-US" sz="32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모델</a:t>
            </a:r>
            <a:r>
              <a:rPr lang="en-US" altLang="ko-KR" sz="32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(ver.1)</a:t>
            </a:r>
            <a:r>
              <a:rPr lang="ko-KR" altLang="en-US" sz="32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 구축 과정</a:t>
            </a:r>
            <a:endParaRPr lang="en-US" altLang="ko-KR" sz="3200" dirty="0">
              <a:solidFill>
                <a:srgbClr val="E3E2DE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192"/>
          <a:stretch/>
        </p:blipFill>
        <p:spPr bwMode="auto">
          <a:xfrm>
            <a:off x="791095" y="3255160"/>
            <a:ext cx="7852148" cy="5672710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7605600"/>
            <a:ext cx="5116788" cy="1031657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1" name="Group 26"/>
          <p:cNvGrpSpPr/>
          <p:nvPr/>
        </p:nvGrpSpPr>
        <p:grpSpPr>
          <a:xfrm rot="5400000">
            <a:off x="16985925" y="281626"/>
            <a:ext cx="552450" cy="979799"/>
            <a:chOff x="0" y="0"/>
            <a:chExt cx="189122" cy="335417"/>
          </a:xfrm>
        </p:grpSpPr>
        <p:sp>
          <p:nvSpPr>
            <p:cNvPr id="22" name="Freeform 27"/>
            <p:cNvSpPr/>
            <p:nvPr/>
          </p:nvSpPr>
          <p:spPr>
            <a:xfrm>
              <a:off x="0" y="0"/>
              <a:ext cx="189122" cy="335417"/>
            </a:xfrm>
            <a:custGeom>
              <a:avLst/>
              <a:gdLst/>
              <a:ahLst/>
              <a:cxnLst/>
              <a:rect l="l" t="t" r="r" b="b"/>
              <a:pathLst>
                <a:path w="189122" h="335417">
                  <a:moveTo>
                    <a:pt x="94561" y="0"/>
                  </a:moveTo>
                  <a:lnTo>
                    <a:pt x="94561" y="0"/>
                  </a:lnTo>
                  <a:cubicBezTo>
                    <a:pt x="146785" y="0"/>
                    <a:pt x="189122" y="42336"/>
                    <a:pt x="189122" y="94561"/>
                  </a:cubicBezTo>
                  <a:lnTo>
                    <a:pt x="189122" y="240856"/>
                  </a:lnTo>
                  <a:cubicBezTo>
                    <a:pt x="189122" y="265936"/>
                    <a:pt x="179159" y="289988"/>
                    <a:pt x="161425" y="307721"/>
                  </a:cubicBezTo>
                  <a:cubicBezTo>
                    <a:pt x="143692" y="325455"/>
                    <a:pt x="119640" y="335417"/>
                    <a:pt x="94561" y="335417"/>
                  </a:cubicBezTo>
                  <a:lnTo>
                    <a:pt x="94561" y="335417"/>
                  </a:lnTo>
                  <a:cubicBezTo>
                    <a:pt x="42336" y="335417"/>
                    <a:pt x="0" y="293081"/>
                    <a:pt x="0" y="240856"/>
                  </a:cubicBezTo>
                  <a:lnTo>
                    <a:pt x="0" y="94561"/>
                  </a:lnTo>
                  <a:cubicBezTo>
                    <a:pt x="0" y="69482"/>
                    <a:pt x="9963" y="45430"/>
                    <a:pt x="27696" y="27696"/>
                  </a:cubicBezTo>
                  <a:cubicBezTo>
                    <a:pt x="45430" y="9963"/>
                    <a:pt x="69482" y="0"/>
                    <a:pt x="945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E3E2DE"/>
              </a:solidFill>
              <a:prstDash val="solid"/>
              <a:round/>
            </a:ln>
          </p:spPr>
        </p:sp>
        <p:sp>
          <p:nvSpPr>
            <p:cNvPr id="25" name="TextBox 28"/>
            <p:cNvSpPr txBox="1"/>
            <p:nvPr/>
          </p:nvSpPr>
          <p:spPr>
            <a:xfrm>
              <a:off x="0" y="-9525"/>
              <a:ext cx="189122" cy="344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9"/>
                </a:lnSpc>
              </a:pPr>
              <a:endParaRPr/>
            </a:p>
          </p:txBody>
        </p:sp>
      </p:grpSp>
      <p:sp>
        <p:nvSpPr>
          <p:cNvPr id="26" name="TextBox 29"/>
          <p:cNvSpPr txBox="1"/>
          <p:nvPr/>
        </p:nvSpPr>
        <p:spPr>
          <a:xfrm>
            <a:off x="16772251" y="652464"/>
            <a:ext cx="979799" cy="291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9"/>
              </a:lnSpc>
              <a:spcBef>
                <a:spcPct val="0"/>
              </a:spcBef>
            </a:pPr>
            <a:r>
              <a:rPr lang="en-US" sz="2499" b="1" dirty="0" smtClean="0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08</a:t>
            </a:r>
            <a:endParaRPr lang="en-US" sz="2499" b="1" dirty="0">
              <a:solidFill>
                <a:srgbClr val="E3E2DE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3288437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2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6"/>
          <p:cNvGrpSpPr/>
          <p:nvPr/>
        </p:nvGrpSpPr>
        <p:grpSpPr>
          <a:xfrm rot="5400000">
            <a:off x="16901475" y="129226"/>
            <a:ext cx="552450" cy="979799"/>
            <a:chOff x="0" y="0"/>
            <a:chExt cx="189122" cy="33541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89122" cy="335417"/>
            </a:xfrm>
            <a:custGeom>
              <a:avLst/>
              <a:gdLst/>
              <a:ahLst/>
              <a:cxnLst/>
              <a:rect l="l" t="t" r="r" b="b"/>
              <a:pathLst>
                <a:path w="189122" h="335417">
                  <a:moveTo>
                    <a:pt x="94561" y="0"/>
                  </a:moveTo>
                  <a:lnTo>
                    <a:pt x="94561" y="0"/>
                  </a:lnTo>
                  <a:cubicBezTo>
                    <a:pt x="146785" y="0"/>
                    <a:pt x="189122" y="42336"/>
                    <a:pt x="189122" y="94561"/>
                  </a:cubicBezTo>
                  <a:lnTo>
                    <a:pt x="189122" y="240856"/>
                  </a:lnTo>
                  <a:cubicBezTo>
                    <a:pt x="189122" y="265936"/>
                    <a:pt x="179159" y="289988"/>
                    <a:pt x="161425" y="307721"/>
                  </a:cubicBezTo>
                  <a:cubicBezTo>
                    <a:pt x="143692" y="325455"/>
                    <a:pt x="119640" y="335417"/>
                    <a:pt x="94561" y="335417"/>
                  </a:cubicBezTo>
                  <a:lnTo>
                    <a:pt x="94561" y="335417"/>
                  </a:lnTo>
                  <a:cubicBezTo>
                    <a:pt x="42336" y="335417"/>
                    <a:pt x="0" y="293081"/>
                    <a:pt x="0" y="240856"/>
                  </a:cubicBezTo>
                  <a:lnTo>
                    <a:pt x="0" y="94561"/>
                  </a:lnTo>
                  <a:cubicBezTo>
                    <a:pt x="0" y="69482"/>
                    <a:pt x="9963" y="45430"/>
                    <a:pt x="27696" y="27696"/>
                  </a:cubicBezTo>
                  <a:cubicBezTo>
                    <a:pt x="45430" y="9963"/>
                    <a:pt x="69482" y="0"/>
                    <a:pt x="945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E3E2DE"/>
              </a:solidFill>
              <a:prstDash val="solid"/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189122" cy="344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6687801" y="500064"/>
            <a:ext cx="979799" cy="291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06</a:t>
            </a:r>
          </a:p>
        </p:txBody>
      </p:sp>
      <p:sp>
        <p:nvSpPr>
          <p:cNvPr id="31" name="TextBox 6">
            <a:extLst>
              <a:ext uri="{FF2B5EF4-FFF2-40B4-BE49-F238E27FC236}">
                <a16:creationId xmlns="" xmlns:a16="http://schemas.microsoft.com/office/drawing/2014/main" id="{C6464847-34D4-4614-AEDA-C387F7125F5D}"/>
              </a:ext>
            </a:extLst>
          </p:cNvPr>
          <p:cNvSpPr txBox="1"/>
          <p:nvPr/>
        </p:nvSpPr>
        <p:spPr>
          <a:xfrm>
            <a:off x="476250" y="276225"/>
            <a:ext cx="17335500" cy="19236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8800" b="1" spc="-825" dirty="0">
                <a:solidFill>
                  <a:srgbClr val="1351AA"/>
                </a:solidFill>
                <a:latin typeface="Aileron Heavy"/>
                <a:ea typeface="Aileron Heavy"/>
                <a:cs typeface="Aileron Heavy"/>
                <a:sym typeface="Aileron Heavy"/>
              </a:rPr>
              <a:t>Key Implementations &amp; Demo</a:t>
            </a:r>
          </a:p>
        </p:txBody>
      </p:sp>
      <p:sp>
        <p:nvSpPr>
          <p:cNvPr id="32" name="TextBox 11">
            <a:extLst>
              <a:ext uri="{FF2B5EF4-FFF2-40B4-BE49-F238E27FC236}">
                <a16:creationId xmlns="" xmlns:a16="http://schemas.microsoft.com/office/drawing/2014/main" id="{19594D45-1E6D-4B0D-997F-EC22E1DF48DC}"/>
              </a:ext>
            </a:extLst>
          </p:cNvPr>
          <p:cNvSpPr txBox="1"/>
          <p:nvPr/>
        </p:nvSpPr>
        <p:spPr>
          <a:xfrm>
            <a:off x="609600" y="2387505"/>
            <a:ext cx="7543800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39"/>
              </a:lnSpc>
              <a:spcBef>
                <a:spcPct val="0"/>
              </a:spcBef>
            </a:pPr>
            <a:r>
              <a:rPr lang="en-US" altLang="ko-KR" sz="32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ML </a:t>
            </a:r>
            <a:r>
              <a:rPr lang="ko-KR" altLang="en-US" sz="32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모델</a:t>
            </a:r>
            <a:r>
              <a:rPr lang="en-US" altLang="ko-KR" sz="32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(ver.1)</a:t>
            </a:r>
            <a:r>
              <a:rPr lang="ko-KR" altLang="en-US" sz="32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 </a:t>
            </a:r>
            <a:r>
              <a:rPr lang="ko-KR" altLang="en-US" sz="32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구축 </a:t>
            </a:r>
            <a:r>
              <a:rPr lang="ko-KR" altLang="en-US" sz="32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과정</a:t>
            </a:r>
            <a:endParaRPr lang="en-US" altLang="ko-KR" sz="3200" dirty="0">
              <a:solidFill>
                <a:srgbClr val="1351AA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9594D45-1E6D-4B0D-997F-EC22E1DF48DC}"/>
              </a:ext>
            </a:extLst>
          </p:cNvPr>
          <p:cNvSpPr txBox="1"/>
          <p:nvPr/>
        </p:nvSpPr>
        <p:spPr>
          <a:xfrm>
            <a:off x="10044892" y="4832509"/>
            <a:ext cx="7543800" cy="295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spcBef>
                <a:spcPct val="0"/>
              </a:spcBef>
              <a:buFontTx/>
              <a:buChar char="-"/>
            </a:pPr>
            <a:r>
              <a:rPr lang="ko-KR" altLang="en-US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위기 </a:t>
            </a:r>
            <a:r>
              <a:rPr lang="ko-KR" altLang="en-US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발견</a:t>
            </a:r>
            <a:r>
              <a:rPr lang="en-US" altLang="ko-KR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: </a:t>
            </a:r>
            <a:r>
              <a:rPr lang="ko-KR" altLang="en-US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초기 정확도가 </a:t>
            </a:r>
            <a:r>
              <a:rPr lang="en-US" altLang="ko-KR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97.8%</a:t>
            </a:r>
            <a:r>
              <a:rPr lang="ko-KR" altLang="en-US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로 비정상적으로 높게 나와 </a:t>
            </a:r>
            <a:r>
              <a:rPr lang="en-US" altLang="ko-KR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'</a:t>
            </a:r>
            <a:r>
              <a:rPr lang="ko-KR" altLang="en-US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데이터 유출</a:t>
            </a:r>
            <a:r>
              <a:rPr lang="en-US" altLang="ko-KR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' </a:t>
            </a:r>
            <a:r>
              <a:rPr lang="ko-KR" altLang="en-US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의심함</a:t>
            </a:r>
            <a:endParaRPr lang="en-US" altLang="ko-KR" sz="2400" dirty="0" smtClean="0">
              <a:solidFill>
                <a:srgbClr val="1351AA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  <a:p>
            <a:pPr marL="342900" indent="-342900" algn="just">
              <a:spcBef>
                <a:spcPct val="0"/>
              </a:spcBef>
              <a:buFontTx/>
              <a:buChar char="-"/>
            </a:pPr>
            <a:endParaRPr lang="en-US" altLang="ko-KR" sz="2400" dirty="0">
              <a:solidFill>
                <a:srgbClr val="1351AA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  <a:p>
            <a:pPr marL="342900" indent="-342900" algn="just">
              <a:spcBef>
                <a:spcPct val="0"/>
              </a:spcBef>
              <a:buFontTx/>
              <a:buChar char="-"/>
            </a:pPr>
            <a:r>
              <a:rPr lang="ko-KR" altLang="en-US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원인 </a:t>
            </a:r>
            <a:r>
              <a:rPr lang="ko-KR" altLang="en-US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파악</a:t>
            </a:r>
            <a:r>
              <a:rPr lang="en-US" altLang="ko-KR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: </a:t>
            </a:r>
            <a:r>
              <a:rPr lang="ko-KR" altLang="en-US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정답</a:t>
            </a:r>
            <a:r>
              <a:rPr lang="en-US" altLang="ko-KR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(Y)</a:t>
            </a:r>
            <a:r>
              <a:rPr lang="ko-KR" altLang="en-US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의 근거였던 </a:t>
            </a:r>
            <a:r>
              <a:rPr lang="en-US" altLang="ko-KR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'</a:t>
            </a:r>
            <a:r>
              <a:rPr lang="ko-KR" altLang="en-US" sz="2400" dirty="0" err="1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폐업률</a:t>
            </a:r>
            <a:r>
              <a:rPr lang="en-US" altLang="ko-KR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' </a:t>
            </a:r>
            <a:r>
              <a:rPr lang="ko-KR" altLang="en-US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등이 문제집</a:t>
            </a:r>
            <a:r>
              <a:rPr lang="en-US" altLang="ko-KR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(X)</a:t>
            </a:r>
            <a:r>
              <a:rPr lang="ko-KR" altLang="en-US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에도 포함되어 답을 알고 푸는 </a:t>
            </a:r>
            <a:r>
              <a:rPr lang="ko-KR" altLang="en-US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상태</a:t>
            </a:r>
            <a:endParaRPr lang="en-US" altLang="ko-KR" sz="2400" dirty="0" smtClean="0">
              <a:solidFill>
                <a:srgbClr val="1351AA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  <a:p>
            <a:pPr marL="342900" indent="-342900" algn="just">
              <a:spcBef>
                <a:spcPct val="0"/>
              </a:spcBef>
              <a:buFontTx/>
              <a:buChar char="-"/>
            </a:pPr>
            <a:endParaRPr lang="en-US" altLang="ko-KR" sz="2400" dirty="0">
              <a:solidFill>
                <a:srgbClr val="1351AA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  <a:p>
            <a:pPr marL="342900" indent="-342900" algn="just">
              <a:spcBef>
                <a:spcPct val="0"/>
              </a:spcBef>
              <a:buFontTx/>
              <a:buChar char="-"/>
            </a:pPr>
            <a:r>
              <a:rPr lang="ko-KR" altLang="en-US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해결</a:t>
            </a:r>
            <a:r>
              <a:rPr lang="en-US" altLang="ko-KR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: </a:t>
            </a:r>
            <a:r>
              <a:rPr lang="ko-KR" altLang="en-US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직접적 </a:t>
            </a:r>
            <a:r>
              <a:rPr lang="ko-KR" altLang="en-US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힌트 변수를 과감히 제거하고 </a:t>
            </a:r>
            <a:r>
              <a:rPr lang="ko-KR" altLang="en-US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순수 </a:t>
            </a:r>
            <a:r>
              <a:rPr lang="ko-KR" altLang="en-US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상권 환경 변수</a:t>
            </a:r>
            <a:r>
              <a:rPr lang="en-US" altLang="ko-KR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(</a:t>
            </a:r>
            <a:r>
              <a:rPr lang="ko-KR" altLang="en-US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인구</a:t>
            </a:r>
            <a:r>
              <a:rPr lang="en-US" altLang="ko-KR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, </a:t>
            </a:r>
            <a:r>
              <a:rPr lang="ko-KR" altLang="en-US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소득 등</a:t>
            </a:r>
            <a:r>
              <a:rPr lang="en-US" altLang="ko-KR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)</a:t>
            </a:r>
            <a:r>
              <a:rPr lang="ko-KR" altLang="en-US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만으로 </a:t>
            </a:r>
            <a:r>
              <a:rPr lang="ko-KR" altLang="en-US" sz="2400" dirty="0" err="1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재학습함</a:t>
            </a:r>
            <a:endParaRPr lang="en-US" altLang="ko-KR" sz="2400" dirty="0">
              <a:solidFill>
                <a:srgbClr val="1351AA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</p:txBody>
      </p:sp>
      <p:sp>
        <p:nvSpPr>
          <p:cNvPr id="20" name="TextBox 11">
            <a:extLst>
              <a:ext uri="{FF2B5EF4-FFF2-40B4-BE49-F238E27FC236}">
                <a16:creationId xmlns="" xmlns:a16="http://schemas.microsoft.com/office/drawing/2014/main" id="{19594D45-1E6D-4B0D-997F-EC22E1DF48DC}"/>
              </a:ext>
            </a:extLst>
          </p:cNvPr>
          <p:cNvSpPr txBox="1"/>
          <p:nvPr/>
        </p:nvSpPr>
        <p:spPr>
          <a:xfrm>
            <a:off x="9906000" y="3848100"/>
            <a:ext cx="7756236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spcBef>
                <a:spcPct val="0"/>
              </a:spcBef>
            </a:pPr>
            <a:r>
              <a:rPr lang="en-US" altLang="ko-KR" sz="32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4. </a:t>
            </a:r>
            <a:r>
              <a:rPr lang="ko-KR" altLang="en-US" sz="32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데이터 </a:t>
            </a:r>
            <a:r>
              <a:rPr lang="ko-KR" altLang="en-US" sz="32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유출</a:t>
            </a:r>
            <a:r>
              <a:rPr lang="en-US" altLang="ko-KR" sz="32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(Data Leakage) </a:t>
            </a:r>
            <a:r>
              <a:rPr lang="ko-KR" altLang="en-US" sz="32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해결</a:t>
            </a:r>
            <a:endParaRPr lang="en-US" altLang="ko-KR" sz="3200" dirty="0">
              <a:solidFill>
                <a:srgbClr val="1351AA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</p:txBody>
      </p:sp>
      <p:grpSp>
        <p:nvGrpSpPr>
          <p:cNvPr id="15" name="Group 26"/>
          <p:cNvGrpSpPr/>
          <p:nvPr/>
        </p:nvGrpSpPr>
        <p:grpSpPr>
          <a:xfrm rot="5400000">
            <a:off x="17053875" y="281626"/>
            <a:ext cx="552450" cy="979799"/>
            <a:chOff x="0" y="0"/>
            <a:chExt cx="189122" cy="335417"/>
          </a:xfrm>
        </p:grpSpPr>
        <p:sp>
          <p:nvSpPr>
            <p:cNvPr id="16" name="Freeform 27"/>
            <p:cNvSpPr/>
            <p:nvPr/>
          </p:nvSpPr>
          <p:spPr>
            <a:xfrm>
              <a:off x="0" y="0"/>
              <a:ext cx="189122" cy="335417"/>
            </a:xfrm>
            <a:custGeom>
              <a:avLst/>
              <a:gdLst/>
              <a:ahLst/>
              <a:cxnLst/>
              <a:rect l="l" t="t" r="r" b="b"/>
              <a:pathLst>
                <a:path w="189122" h="335417">
                  <a:moveTo>
                    <a:pt x="94561" y="0"/>
                  </a:moveTo>
                  <a:lnTo>
                    <a:pt x="94561" y="0"/>
                  </a:lnTo>
                  <a:cubicBezTo>
                    <a:pt x="146785" y="0"/>
                    <a:pt x="189122" y="42336"/>
                    <a:pt x="189122" y="94561"/>
                  </a:cubicBezTo>
                  <a:lnTo>
                    <a:pt x="189122" y="240856"/>
                  </a:lnTo>
                  <a:cubicBezTo>
                    <a:pt x="189122" y="265936"/>
                    <a:pt x="179159" y="289988"/>
                    <a:pt x="161425" y="307721"/>
                  </a:cubicBezTo>
                  <a:cubicBezTo>
                    <a:pt x="143692" y="325455"/>
                    <a:pt x="119640" y="335417"/>
                    <a:pt x="94561" y="335417"/>
                  </a:cubicBezTo>
                  <a:lnTo>
                    <a:pt x="94561" y="335417"/>
                  </a:lnTo>
                  <a:cubicBezTo>
                    <a:pt x="42336" y="335417"/>
                    <a:pt x="0" y="293081"/>
                    <a:pt x="0" y="240856"/>
                  </a:cubicBezTo>
                  <a:lnTo>
                    <a:pt x="0" y="94561"/>
                  </a:lnTo>
                  <a:cubicBezTo>
                    <a:pt x="0" y="69482"/>
                    <a:pt x="9963" y="45430"/>
                    <a:pt x="27696" y="27696"/>
                  </a:cubicBezTo>
                  <a:cubicBezTo>
                    <a:pt x="45430" y="9963"/>
                    <a:pt x="69482" y="0"/>
                    <a:pt x="945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E3E2DE"/>
              </a:solidFill>
              <a:prstDash val="solid"/>
              <a:round/>
            </a:ln>
          </p:spPr>
        </p:sp>
        <p:sp>
          <p:nvSpPr>
            <p:cNvPr id="17" name="TextBox 28"/>
            <p:cNvSpPr txBox="1"/>
            <p:nvPr/>
          </p:nvSpPr>
          <p:spPr>
            <a:xfrm>
              <a:off x="0" y="-9525"/>
              <a:ext cx="189122" cy="344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9"/>
                </a:lnSpc>
              </a:pPr>
              <a:endParaRPr>
                <a:solidFill>
                  <a:srgbClr val="1351AA"/>
                </a:solidFill>
              </a:endParaRPr>
            </a:p>
          </p:txBody>
        </p:sp>
      </p:grpSp>
      <p:grpSp>
        <p:nvGrpSpPr>
          <p:cNvPr id="19" name="Group 11"/>
          <p:cNvGrpSpPr/>
          <p:nvPr/>
        </p:nvGrpSpPr>
        <p:grpSpPr>
          <a:xfrm rot="5400000">
            <a:off x="17053875" y="281626"/>
            <a:ext cx="552450" cy="979799"/>
            <a:chOff x="0" y="0"/>
            <a:chExt cx="189122" cy="335417"/>
          </a:xfrm>
        </p:grpSpPr>
        <p:sp>
          <p:nvSpPr>
            <p:cNvPr id="21" name="Freeform 12"/>
            <p:cNvSpPr/>
            <p:nvPr/>
          </p:nvSpPr>
          <p:spPr>
            <a:xfrm>
              <a:off x="0" y="0"/>
              <a:ext cx="189122" cy="335417"/>
            </a:xfrm>
            <a:custGeom>
              <a:avLst/>
              <a:gdLst/>
              <a:ahLst/>
              <a:cxnLst/>
              <a:rect l="l" t="t" r="r" b="b"/>
              <a:pathLst>
                <a:path w="189122" h="335417">
                  <a:moveTo>
                    <a:pt x="94561" y="0"/>
                  </a:moveTo>
                  <a:lnTo>
                    <a:pt x="94561" y="0"/>
                  </a:lnTo>
                  <a:cubicBezTo>
                    <a:pt x="146785" y="0"/>
                    <a:pt x="189122" y="42336"/>
                    <a:pt x="189122" y="94561"/>
                  </a:cubicBezTo>
                  <a:lnTo>
                    <a:pt x="189122" y="240856"/>
                  </a:lnTo>
                  <a:cubicBezTo>
                    <a:pt x="189122" y="265936"/>
                    <a:pt x="179159" y="289988"/>
                    <a:pt x="161425" y="307721"/>
                  </a:cubicBezTo>
                  <a:cubicBezTo>
                    <a:pt x="143692" y="325455"/>
                    <a:pt x="119640" y="335417"/>
                    <a:pt x="94561" y="335417"/>
                  </a:cubicBezTo>
                  <a:lnTo>
                    <a:pt x="94561" y="335417"/>
                  </a:lnTo>
                  <a:cubicBezTo>
                    <a:pt x="42336" y="335417"/>
                    <a:pt x="0" y="293081"/>
                    <a:pt x="0" y="240856"/>
                  </a:cubicBezTo>
                  <a:lnTo>
                    <a:pt x="0" y="94561"/>
                  </a:lnTo>
                  <a:cubicBezTo>
                    <a:pt x="0" y="69482"/>
                    <a:pt x="9963" y="45430"/>
                    <a:pt x="27696" y="27696"/>
                  </a:cubicBezTo>
                  <a:cubicBezTo>
                    <a:pt x="45430" y="9963"/>
                    <a:pt x="69482" y="0"/>
                    <a:pt x="945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1351AA"/>
              </a:solidFill>
              <a:prstDash val="solid"/>
              <a:round/>
            </a:ln>
          </p:spPr>
        </p:sp>
        <p:sp>
          <p:nvSpPr>
            <p:cNvPr id="23" name="TextBox 13"/>
            <p:cNvSpPr txBox="1"/>
            <p:nvPr/>
          </p:nvSpPr>
          <p:spPr>
            <a:xfrm>
              <a:off x="0" y="-9525"/>
              <a:ext cx="189122" cy="344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9"/>
                </a:lnSpc>
              </a:pPr>
              <a:endParaRPr/>
            </a:p>
          </p:txBody>
        </p:sp>
      </p:grpSp>
      <p:sp>
        <p:nvSpPr>
          <p:cNvPr id="24" name="TextBox 14"/>
          <p:cNvSpPr txBox="1"/>
          <p:nvPr/>
        </p:nvSpPr>
        <p:spPr>
          <a:xfrm>
            <a:off x="16840201" y="652464"/>
            <a:ext cx="979799" cy="291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9"/>
              </a:lnSpc>
              <a:spcBef>
                <a:spcPct val="0"/>
              </a:spcBef>
            </a:pPr>
            <a:r>
              <a:rPr lang="en-US" sz="2499" b="1" dirty="0" smtClean="0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09</a:t>
            </a:r>
            <a:endParaRPr lang="en-US" sz="2499" b="1" dirty="0">
              <a:solidFill>
                <a:srgbClr val="1351AA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543300"/>
            <a:ext cx="8506619" cy="5065872"/>
          </a:xfrm>
          <a:prstGeom prst="rect">
            <a:avLst/>
          </a:prstGeom>
          <a:noFill/>
          <a:ln w="57150">
            <a:solidFill>
              <a:srgbClr val="1351AA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줄무늬가 있는 오른쪽 화살표 2"/>
          <p:cNvSpPr/>
          <p:nvPr/>
        </p:nvSpPr>
        <p:spPr>
          <a:xfrm>
            <a:off x="10141232" y="8609172"/>
            <a:ext cx="1308908" cy="1106328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11">
            <a:extLst>
              <a:ext uri="{FF2B5EF4-FFF2-40B4-BE49-F238E27FC236}">
                <a16:creationId xmlns="" xmlns:a16="http://schemas.microsoft.com/office/drawing/2014/main" id="{19594D45-1E6D-4B0D-997F-EC22E1DF48DC}"/>
              </a:ext>
            </a:extLst>
          </p:cNvPr>
          <p:cNvSpPr txBox="1"/>
          <p:nvPr/>
        </p:nvSpPr>
        <p:spPr>
          <a:xfrm>
            <a:off x="12059287" y="8116729"/>
            <a:ext cx="4634692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spcBef>
                <a:spcPct val="0"/>
              </a:spcBef>
            </a:pPr>
            <a:r>
              <a:rPr lang="ko-KR" altLang="en-US" sz="32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핵심 지표 제외 후 정확도</a:t>
            </a:r>
            <a:endParaRPr lang="en-US" altLang="ko-KR" sz="3200" dirty="0">
              <a:solidFill>
                <a:srgbClr val="1351AA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</p:txBody>
      </p:sp>
      <p:sp>
        <p:nvSpPr>
          <p:cNvPr id="25" name="TextBox 6">
            <a:extLst>
              <a:ext uri="{FF2B5EF4-FFF2-40B4-BE49-F238E27FC236}">
                <a16:creationId xmlns="" xmlns:a16="http://schemas.microsoft.com/office/drawing/2014/main" id="{C6464847-34D4-4614-AEDA-C387F7125F5D}"/>
              </a:ext>
            </a:extLst>
          </p:cNvPr>
          <p:cNvSpPr txBox="1"/>
          <p:nvPr/>
        </p:nvSpPr>
        <p:spPr>
          <a:xfrm>
            <a:off x="12641118" y="8116729"/>
            <a:ext cx="2446482" cy="19236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6600" b="1" spc="-825" dirty="0" smtClean="0">
                <a:solidFill>
                  <a:srgbClr val="1351AA"/>
                </a:solidFill>
                <a:latin typeface="Aileron Heavy"/>
                <a:ea typeface="Aileron Heavy"/>
                <a:cs typeface="Aileron Heavy"/>
                <a:sym typeface="Aileron Heavy"/>
              </a:rPr>
              <a:t>86.75%</a:t>
            </a:r>
            <a:endParaRPr lang="en-US" sz="6600" b="1" spc="-825" dirty="0">
              <a:solidFill>
                <a:srgbClr val="1351AA"/>
              </a:solidFill>
              <a:latin typeface="Aileron Heavy"/>
              <a:ea typeface="Aileron Heavy"/>
              <a:cs typeface="Aileron Heavy"/>
              <a:sym typeface="Aileron Heavy"/>
            </a:endParaRPr>
          </a:p>
        </p:txBody>
      </p:sp>
    </p:spTree>
    <p:extLst>
      <p:ext uri="{BB962C8B-B14F-4D97-AF65-F5344CB8AC3E}">
        <p14:creationId xmlns:p14="http://schemas.microsoft.com/office/powerpoint/2010/main" val="1580552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51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 rot="5400000">
            <a:off x="16977675" y="338775"/>
            <a:ext cx="552450" cy="979799"/>
            <a:chOff x="0" y="0"/>
            <a:chExt cx="189122" cy="33541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9122" cy="335417"/>
            </a:xfrm>
            <a:custGeom>
              <a:avLst/>
              <a:gdLst/>
              <a:ahLst/>
              <a:cxnLst/>
              <a:rect l="l" t="t" r="r" b="b"/>
              <a:pathLst>
                <a:path w="189122" h="335417">
                  <a:moveTo>
                    <a:pt x="94561" y="0"/>
                  </a:moveTo>
                  <a:lnTo>
                    <a:pt x="94561" y="0"/>
                  </a:lnTo>
                  <a:cubicBezTo>
                    <a:pt x="146785" y="0"/>
                    <a:pt x="189122" y="42336"/>
                    <a:pt x="189122" y="94561"/>
                  </a:cubicBezTo>
                  <a:lnTo>
                    <a:pt x="189122" y="240856"/>
                  </a:lnTo>
                  <a:cubicBezTo>
                    <a:pt x="189122" y="265936"/>
                    <a:pt x="179159" y="289988"/>
                    <a:pt x="161425" y="307721"/>
                  </a:cubicBezTo>
                  <a:cubicBezTo>
                    <a:pt x="143692" y="325455"/>
                    <a:pt x="119640" y="335417"/>
                    <a:pt x="94561" y="335417"/>
                  </a:cubicBezTo>
                  <a:lnTo>
                    <a:pt x="94561" y="335417"/>
                  </a:lnTo>
                  <a:cubicBezTo>
                    <a:pt x="42336" y="335417"/>
                    <a:pt x="0" y="293081"/>
                    <a:pt x="0" y="240856"/>
                  </a:cubicBezTo>
                  <a:lnTo>
                    <a:pt x="0" y="94561"/>
                  </a:lnTo>
                  <a:cubicBezTo>
                    <a:pt x="0" y="69482"/>
                    <a:pt x="9963" y="45430"/>
                    <a:pt x="27696" y="27696"/>
                  </a:cubicBezTo>
                  <a:cubicBezTo>
                    <a:pt x="45430" y="9963"/>
                    <a:pt x="69482" y="0"/>
                    <a:pt x="945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1351AA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89122" cy="344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6764001" y="709613"/>
            <a:ext cx="979799" cy="291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03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="" xmlns:a16="http://schemas.microsoft.com/office/drawing/2014/main" id="{BE048569-9CAB-42E7-972D-453DA2C1F8B6}"/>
              </a:ext>
            </a:extLst>
          </p:cNvPr>
          <p:cNvSpPr txBox="1"/>
          <p:nvPr/>
        </p:nvSpPr>
        <p:spPr>
          <a:xfrm>
            <a:off x="381000" y="190500"/>
            <a:ext cx="15979104" cy="1688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8800" b="1" spc="-825" dirty="0" smtClean="0">
                <a:solidFill>
                  <a:srgbClr val="E3E2DE"/>
                </a:solidFill>
                <a:latin typeface="Aileron Heavy"/>
                <a:ea typeface="Aileron Heavy"/>
                <a:cs typeface="Aileron Heavy"/>
                <a:sym typeface="Aileron Heavy"/>
              </a:rPr>
              <a:t>Key </a:t>
            </a:r>
            <a:r>
              <a:rPr lang="en-US" sz="8800" b="1" spc="-825" dirty="0" smtClean="0">
                <a:solidFill>
                  <a:srgbClr val="E3E2DE"/>
                </a:solidFill>
                <a:latin typeface="Aileron Heavy"/>
                <a:ea typeface="Aileron Heavy"/>
                <a:cs typeface="Aileron Heavy"/>
                <a:sym typeface="Aileron Heavy"/>
              </a:rPr>
              <a:t>Implementations&amp; Demo</a:t>
            </a:r>
            <a:endParaRPr lang="en-US" sz="8800" b="1" spc="-825" dirty="0">
              <a:solidFill>
                <a:srgbClr val="E3E2DE"/>
              </a:solidFill>
              <a:latin typeface="Aileron Heavy"/>
              <a:ea typeface="Aileron Heavy"/>
              <a:cs typeface="Aileron Heavy"/>
              <a:sym typeface="Aileron Heavy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EA7A16AE-7952-426F-8995-6C891AA20B2A}"/>
              </a:ext>
            </a:extLst>
          </p:cNvPr>
          <p:cNvSpPr txBox="1"/>
          <p:nvPr/>
        </p:nvSpPr>
        <p:spPr>
          <a:xfrm>
            <a:off x="718751" y="2958525"/>
            <a:ext cx="81054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spc="-150" dirty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sym typeface="Work Sans Bold"/>
              </a:rPr>
              <a:t>5. </a:t>
            </a:r>
            <a:r>
              <a:rPr lang="ko-KR" altLang="en-US" sz="3200" spc="-150" dirty="0" smtClean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sym typeface="Work Sans Bold"/>
              </a:rPr>
              <a:t>신뢰도 </a:t>
            </a:r>
            <a:r>
              <a:rPr lang="ko-KR" altLang="en-US" sz="3200" spc="-150" dirty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sym typeface="Work Sans Bold"/>
              </a:rPr>
              <a:t>검증</a:t>
            </a:r>
            <a:endParaRPr lang="ko-KR" altLang="en-US" sz="3200" spc="-150" dirty="0">
              <a:solidFill>
                <a:srgbClr val="E3E2DE"/>
              </a:solidFill>
              <a:latin typeface="페이퍼로지 6 SemiBold" charset="-127"/>
              <a:ea typeface="페이퍼로지 6 SemiBold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04553" y="2324691"/>
            <a:ext cx="4560287" cy="4257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ts val="2639"/>
              </a:lnSpc>
              <a:spcBef>
                <a:spcPct val="0"/>
              </a:spcBef>
            </a:pPr>
            <a:r>
              <a:rPr lang="en-US" altLang="ko-KR" sz="32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ML </a:t>
            </a:r>
            <a:r>
              <a:rPr lang="ko-KR" altLang="en-US" sz="32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모델</a:t>
            </a:r>
            <a:r>
              <a:rPr lang="en-US" altLang="ko-KR" sz="32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(ver.1)</a:t>
            </a:r>
            <a:r>
              <a:rPr lang="ko-KR" altLang="en-US" sz="3200" dirty="0">
                <a:solidFill>
                  <a:srgbClr val="E3E2DE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 구축 과정</a:t>
            </a:r>
            <a:endParaRPr lang="en-US" altLang="ko-KR" sz="3200" dirty="0">
              <a:solidFill>
                <a:srgbClr val="E3E2DE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</p:txBody>
      </p:sp>
      <p:grpSp>
        <p:nvGrpSpPr>
          <p:cNvPr id="21" name="Group 26"/>
          <p:cNvGrpSpPr/>
          <p:nvPr/>
        </p:nvGrpSpPr>
        <p:grpSpPr>
          <a:xfrm rot="5400000">
            <a:off x="16985925" y="281626"/>
            <a:ext cx="552450" cy="979799"/>
            <a:chOff x="0" y="0"/>
            <a:chExt cx="189122" cy="335417"/>
          </a:xfrm>
        </p:grpSpPr>
        <p:sp>
          <p:nvSpPr>
            <p:cNvPr id="22" name="Freeform 27"/>
            <p:cNvSpPr/>
            <p:nvPr/>
          </p:nvSpPr>
          <p:spPr>
            <a:xfrm>
              <a:off x="0" y="0"/>
              <a:ext cx="189122" cy="335417"/>
            </a:xfrm>
            <a:custGeom>
              <a:avLst/>
              <a:gdLst/>
              <a:ahLst/>
              <a:cxnLst/>
              <a:rect l="l" t="t" r="r" b="b"/>
              <a:pathLst>
                <a:path w="189122" h="335417">
                  <a:moveTo>
                    <a:pt x="94561" y="0"/>
                  </a:moveTo>
                  <a:lnTo>
                    <a:pt x="94561" y="0"/>
                  </a:lnTo>
                  <a:cubicBezTo>
                    <a:pt x="146785" y="0"/>
                    <a:pt x="189122" y="42336"/>
                    <a:pt x="189122" y="94561"/>
                  </a:cubicBezTo>
                  <a:lnTo>
                    <a:pt x="189122" y="240856"/>
                  </a:lnTo>
                  <a:cubicBezTo>
                    <a:pt x="189122" y="265936"/>
                    <a:pt x="179159" y="289988"/>
                    <a:pt x="161425" y="307721"/>
                  </a:cubicBezTo>
                  <a:cubicBezTo>
                    <a:pt x="143692" y="325455"/>
                    <a:pt x="119640" y="335417"/>
                    <a:pt x="94561" y="335417"/>
                  </a:cubicBezTo>
                  <a:lnTo>
                    <a:pt x="94561" y="335417"/>
                  </a:lnTo>
                  <a:cubicBezTo>
                    <a:pt x="42336" y="335417"/>
                    <a:pt x="0" y="293081"/>
                    <a:pt x="0" y="240856"/>
                  </a:cubicBezTo>
                  <a:lnTo>
                    <a:pt x="0" y="94561"/>
                  </a:lnTo>
                  <a:cubicBezTo>
                    <a:pt x="0" y="69482"/>
                    <a:pt x="9963" y="45430"/>
                    <a:pt x="27696" y="27696"/>
                  </a:cubicBezTo>
                  <a:cubicBezTo>
                    <a:pt x="45430" y="9963"/>
                    <a:pt x="69482" y="0"/>
                    <a:pt x="945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E3E2DE"/>
              </a:solidFill>
              <a:prstDash val="solid"/>
              <a:round/>
            </a:ln>
          </p:spPr>
        </p:sp>
        <p:sp>
          <p:nvSpPr>
            <p:cNvPr id="25" name="TextBox 28"/>
            <p:cNvSpPr txBox="1"/>
            <p:nvPr/>
          </p:nvSpPr>
          <p:spPr>
            <a:xfrm>
              <a:off x="0" y="-9525"/>
              <a:ext cx="189122" cy="344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9"/>
                </a:lnSpc>
              </a:pPr>
              <a:endParaRPr/>
            </a:p>
          </p:txBody>
        </p:sp>
      </p:grpSp>
      <p:sp>
        <p:nvSpPr>
          <p:cNvPr id="26" name="TextBox 29"/>
          <p:cNvSpPr txBox="1"/>
          <p:nvPr/>
        </p:nvSpPr>
        <p:spPr>
          <a:xfrm>
            <a:off x="16772251" y="652464"/>
            <a:ext cx="979799" cy="291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9"/>
              </a:lnSpc>
              <a:spcBef>
                <a:spcPct val="0"/>
              </a:spcBef>
            </a:pPr>
            <a:r>
              <a:rPr lang="en-US" sz="2499" b="1" dirty="0" smtClean="0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10</a:t>
            </a:r>
            <a:endParaRPr lang="en-US" sz="2499" b="1" dirty="0">
              <a:solidFill>
                <a:srgbClr val="E3E2DE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831" y="3924300"/>
            <a:ext cx="8015294" cy="3886199"/>
          </a:xfrm>
          <a:prstGeom prst="rect">
            <a:avLst/>
          </a:prstGeom>
          <a:noFill/>
          <a:ln w="57150">
            <a:solidFill>
              <a:schemeClr val="bg1">
                <a:lumMod val="9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6037424"/>
            <a:ext cx="8317742" cy="1866900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3915151"/>
            <a:ext cx="7086600" cy="3989173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TextBox 8">
            <a:extLst>
              <a:ext uri="{FF2B5EF4-FFF2-40B4-BE49-F238E27FC236}">
                <a16:creationId xmlns="" xmlns:a16="http://schemas.microsoft.com/office/drawing/2014/main" id="{15E7FAE5-48F9-4F7A-A7B1-0BED4388D9FA}"/>
              </a:ext>
            </a:extLst>
          </p:cNvPr>
          <p:cNvSpPr txBox="1"/>
          <p:nvPr/>
        </p:nvSpPr>
        <p:spPr>
          <a:xfrm>
            <a:off x="1211831" y="8151713"/>
            <a:ext cx="8317743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1" indent="-342900">
              <a:lnSpc>
                <a:spcPts val="2859"/>
              </a:lnSpc>
              <a:buFont typeface="Arial" panose="020B0604020202020204" pitchFamily="34" charset="0"/>
              <a:buChar char="•"/>
            </a:pPr>
            <a:r>
              <a:rPr lang="ko-KR" altLang="en-US" sz="2800" b="1" dirty="0" smtClean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안정성 </a:t>
            </a:r>
            <a:r>
              <a:rPr lang="ko-KR" altLang="en-US" sz="2800" b="1" dirty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확인 </a:t>
            </a:r>
            <a:r>
              <a:rPr lang="en-US" altLang="ko-KR" sz="2800" b="1" dirty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(</a:t>
            </a:r>
            <a:r>
              <a:rPr lang="en-US" altLang="ko-KR" sz="2800" b="1" dirty="0" smtClean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K-Fold)</a:t>
            </a:r>
            <a:endParaRPr lang="en-US" altLang="ko-KR" sz="2800" b="1" dirty="0">
              <a:solidFill>
                <a:srgbClr val="E3E2DE"/>
              </a:solidFill>
              <a:latin typeface="페이퍼로지 6 SemiBold" charset="-127"/>
              <a:ea typeface="페이퍼로지 6 SemiBold" charset="-127"/>
              <a:cs typeface="Work Sans Bold"/>
              <a:sym typeface="Work Sans Bold"/>
            </a:endParaRPr>
          </a:p>
          <a:p>
            <a:pPr marL="800100" lvl="2" indent="-342900">
              <a:lnSpc>
                <a:spcPts val="2859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평균 정확도 </a:t>
            </a:r>
            <a:r>
              <a:rPr lang="en-US" altLang="ko-KR" sz="2400" b="1" dirty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86.6% → </a:t>
            </a:r>
            <a:r>
              <a:rPr lang="ko-KR" altLang="en-US" sz="2400" b="1" dirty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데이터 분할과 무관하게 안정적인 </a:t>
            </a:r>
            <a:r>
              <a:rPr lang="ko-KR" altLang="en-US" sz="2400" b="1" dirty="0" smtClean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성능</a:t>
            </a:r>
            <a:endParaRPr lang="en-US" altLang="ko-KR" sz="2400" b="1" dirty="0" smtClean="0">
              <a:solidFill>
                <a:srgbClr val="E3E2DE"/>
              </a:solidFill>
              <a:latin typeface="페이퍼로지 6 SemiBold" charset="-127"/>
              <a:ea typeface="페이퍼로지 6 SemiBold" charset="-127"/>
              <a:cs typeface="Work Sans Bold"/>
              <a:sym typeface="Work Sans Bold"/>
            </a:endParaRPr>
          </a:p>
          <a:p>
            <a:pPr marL="800100" lvl="2" indent="-342900">
              <a:lnSpc>
                <a:spcPts val="2859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표준편차 </a:t>
            </a:r>
            <a:r>
              <a:rPr lang="en-US" altLang="ko-KR" sz="2400" b="1" dirty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0.006 → </a:t>
            </a:r>
            <a:r>
              <a:rPr lang="ko-KR" altLang="en-US" sz="2400" b="1" dirty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특정 데이터에 치우치지 않은 일반화된 모델</a:t>
            </a:r>
            <a:endParaRPr lang="en-US" altLang="ko-KR" sz="2400" b="1" dirty="0" smtClean="0">
              <a:solidFill>
                <a:srgbClr val="E3E2DE"/>
              </a:solidFill>
              <a:latin typeface="페이퍼로지 6 SemiBold" charset="-127"/>
              <a:ea typeface="페이퍼로지 6 SemiBold" charset="-127"/>
              <a:cs typeface="Work Sans Bold"/>
              <a:sym typeface="Work Sans Bold"/>
            </a:endParaRPr>
          </a:p>
        </p:txBody>
      </p:sp>
      <p:sp>
        <p:nvSpPr>
          <p:cNvPr id="20" name="TextBox 8">
            <a:extLst>
              <a:ext uri="{FF2B5EF4-FFF2-40B4-BE49-F238E27FC236}">
                <a16:creationId xmlns="" xmlns:a16="http://schemas.microsoft.com/office/drawing/2014/main" id="{15E7FAE5-48F9-4F7A-A7B1-0BED4388D9FA}"/>
              </a:ext>
            </a:extLst>
          </p:cNvPr>
          <p:cNvSpPr txBox="1"/>
          <p:nvPr/>
        </p:nvSpPr>
        <p:spPr>
          <a:xfrm>
            <a:off x="10268880" y="8227913"/>
            <a:ext cx="7104720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1" indent="-342900">
              <a:lnSpc>
                <a:spcPts val="2859"/>
              </a:lnSpc>
              <a:buFont typeface="Arial" panose="020B0604020202020204" pitchFamily="34" charset="0"/>
              <a:buChar char="•"/>
            </a:pPr>
            <a:r>
              <a:rPr lang="ko-KR" altLang="en-US" sz="2800" b="1" dirty="0" smtClean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혼동 행렬</a:t>
            </a:r>
            <a:r>
              <a:rPr lang="en-US" altLang="ko-KR" sz="2800" b="1" dirty="0" smtClean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(Confusion Matrix) </a:t>
            </a:r>
            <a:r>
              <a:rPr lang="ko-KR" altLang="en-US" sz="2800" b="1" dirty="0" smtClean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분석</a:t>
            </a:r>
            <a:endParaRPr lang="en-US" altLang="ko-KR" sz="2800" b="1" dirty="0">
              <a:solidFill>
                <a:srgbClr val="E3E2DE"/>
              </a:solidFill>
              <a:latin typeface="페이퍼로지 6 SemiBold" charset="-127"/>
              <a:ea typeface="페이퍼로지 6 SemiBold" charset="-127"/>
              <a:cs typeface="Work Sans Bold"/>
              <a:sym typeface="Work Sans Bold"/>
            </a:endParaRPr>
          </a:p>
          <a:p>
            <a:pPr marL="800100" lvl="2" indent="-342900">
              <a:lnSpc>
                <a:spcPts val="2859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정확 분류 다수 → 전반적인 예측 성능 </a:t>
            </a:r>
            <a:r>
              <a:rPr lang="ko-KR" altLang="en-US" sz="2400" b="1" dirty="0" smtClean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우수</a:t>
            </a:r>
            <a:endParaRPr lang="en-US" altLang="ko-KR" sz="2400" b="1" dirty="0" smtClean="0">
              <a:solidFill>
                <a:srgbClr val="E3E2DE"/>
              </a:solidFill>
              <a:latin typeface="페이퍼로지 6 SemiBold" charset="-127"/>
              <a:ea typeface="페이퍼로지 6 SemiBold" charset="-127"/>
              <a:cs typeface="Work Sans Bold"/>
              <a:sym typeface="Work Sans Bold"/>
            </a:endParaRPr>
          </a:p>
          <a:p>
            <a:pPr marL="800100" lvl="2" indent="-342900">
              <a:lnSpc>
                <a:spcPts val="2859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오답 </a:t>
            </a:r>
            <a:r>
              <a:rPr lang="en-US" altLang="ko-KR" sz="2400" b="1" dirty="0" smtClean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(435</a:t>
            </a:r>
            <a:r>
              <a:rPr lang="ko-KR" altLang="en-US" sz="2400" b="1" dirty="0" smtClean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건</a:t>
            </a:r>
            <a:r>
              <a:rPr lang="en-US" altLang="ko-KR" sz="2400" b="1" dirty="0" smtClean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, 249</a:t>
            </a:r>
            <a:r>
              <a:rPr lang="ko-KR" altLang="en-US" sz="2400" b="1" dirty="0" smtClean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건</a:t>
            </a:r>
            <a:r>
              <a:rPr lang="en-US" altLang="ko-KR" sz="2400" b="1" dirty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) → </a:t>
            </a:r>
            <a:r>
              <a:rPr lang="ko-KR" altLang="en-US" sz="2400" b="1" dirty="0" smtClean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성공이라고 </a:t>
            </a:r>
            <a:r>
              <a:rPr lang="ko-KR" altLang="en-US" sz="2400" b="1" dirty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예측했다가 실패하는 경우가 상대적으로 </a:t>
            </a:r>
            <a:r>
              <a:rPr lang="ko-KR" altLang="en-US" sz="2400" b="1" dirty="0" smtClean="0">
                <a:solidFill>
                  <a:srgbClr val="E3E2DE"/>
                </a:solidFill>
                <a:latin typeface="페이퍼로지 6 SemiBold" charset="-127"/>
                <a:ea typeface="페이퍼로지 6 SemiBold" charset="-127"/>
                <a:cs typeface="Work Sans Bold"/>
                <a:sym typeface="Work Sans Bold"/>
              </a:rPr>
              <a:t>적음</a:t>
            </a:r>
            <a:endParaRPr lang="en-US" altLang="ko-KR" sz="2400" b="1" dirty="0" smtClean="0">
              <a:solidFill>
                <a:srgbClr val="E3E2DE"/>
              </a:solidFill>
              <a:latin typeface="페이퍼로지 6 SemiBold" charset="-127"/>
              <a:ea typeface="페이퍼로지 6 SemiBold" charset="-127"/>
              <a:cs typeface="Work Sans Bold"/>
              <a:sym typeface="Work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1876400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2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6"/>
          <p:cNvGrpSpPr/>
          <p:nvPr/>
        </p:nvGrpSpPr>
        <p:grpSpPr>
          <a:xfrm rot="5400000">
            <a:off x="16901475" y="129226"/>
            <a:ext cx="552450" cy="979799"/>
            <a:chOff x="0" y="0"/>
            <a:chExt cx="189122" cy="33541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89122" cy="335417"/>
            </a:xfrm>
            <a:custGeom>
              <a:avLst/>
              <a:gdLst/>
              <a:ahLst/>
              <a:cxnLst/>
              <a:rect l="l" t="t" r="r" b="b"/>
              <a:pathLst>
                <a:path w="189122" h="335417">
                  <a:moveTo>
                    <a:pt x="94561" y="0"/>
                  </a:moveTo>
                  <a:lnTo>
                    <a:pt x="94561" y="0"/>
                  </a:lnTo>
                  <a:cubicBezTo>
                    <a:pt x="146785" y="0"/>
                    <a:pt x="189122" y="42336"/>
                    <a:pt x="189122" y="94561"/>
                  </a:cubicBezTo>
                  <a:lnTo>
                    <a:pt x="189122" y="240856"/>
                  </a:lnTo>
                  <a:cubicBezTo>
                    <a:pt x="189122" y="265936"/>
                    <a:pt x="179159" y="289988"/>
                    <a:pt x="161425" y="307721"/>
                  </a:cubicBezTo>
                  <a:cubicBezTo>
                    <a:pt x="143692" y="325455"/>
                    <a:pt x="119640" y="335417"/>
                    <a:pt x="94561" y="335417"/>
                  </a:cubicBezTo>
                  <a:lnTo>
                    <a:pt x="94561" y="335417"/>
                  </a:lnTo>
                  <a:cubicBezTo>
                    <a:pt x="42336" y="335417"/>
                    <a:pt x="0" y="293081"/>
                    <a:pt x="0" y="240856"/>
                  </a:cubicBezTo>
                  <a:lnTo>
                    <a:pt x="0" y="94561"/>
                  </a:lnTo>
                  <a:cubicBezTo>
                    <a:pt x="0" y="69482"/>
                    <a:pt x="9963" y="45430"/>
                    <a:pt x="27696" y="27696"/>
                  </a:cubicBezTo>
                  <a:cubicBezTo>
                    <a:pt x="45430" y="9963"/>
                    <a:pt x="69482" y="0"/>
                    <a:pt x="945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E3E2DE"/>
              </a:solidFill>
              <a:prstDash val="solid"/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189122" cy="344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6687801" y="500064"/>
            <a:ext cx="979799" cy="291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06</a:t>
            </a:r>
          </a:p>
        </p:txBody>
      </p:sp>
      <p:sp>
        <p:nvSpPr>
          <p:cNvPr id="31" name="TextBox 6">
            <a:extLst>
              <a:ext uri="{FF2B5EF4-FFF2-40B4-BE49-F238E27FC236}">
                <a16:creationId xmlns="" xmlns:a16="http://schemas.microsoft.com/office/drawing/2014/main" id="{C6464847-34D4-4614-AEDA-C387F7125F5D}"/>
              </a:ext>
            </a:extLst>
          </p:cNvPr>
          <p:cNvSpPr txBox="1"/>
          <p:nvPr/>
        </p:nvSpPr>
        <p:spPr>
          <a:xfrm>
            <a:off x="476250" y="276225"/>
            <a:ext cx="17335500" cy="19236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8800" b="1" spc="-825" dirty="0">
                <a:solidFill>
                  <a:srgbClr val="1351AA"/>
                </a:solidFill>
                <a:latin typeface="Aileron Heavy"/>
                <a:ea typeface="Aileron Heavy"/>
                <a:cs typeface="Aileron Heavy"/>
                <a:sym typeface="Aileron Heavy"/>
              </a:rPr>
              <a:t>Key Implementations &amp; Demo</a:t>
            </a:r>
          </a:p>
        </p:txBody>
      </p:sp>
      <p:sp>
        <p:nvSpPr>
          <p:cNvPr id="32" name="TextBox 11">
            <a:extLst>
              <a:ext uri="{FF2B5EF4-FFF2-40B4-BE49-F238E27FC236}">
                <a16:creationId xmlns="" xmlns:a16="http://schemas.microsoft.com/office/drawing/2014/main" id="{19594D45-1E6D-4B0D-997F-EC22E1DF48DC}"/>
              </a:ext>
            </a:extLst>
          </p:cNvPr>
          <p:cNvSpPr txBox="1"/>
          <p:nvPr/>
        </p:nvSpPr>
        <p:spPr>
          <a:xfrm>
            <a:off x="609600" y="2324100"/>
            <a:ext cx="7543800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39"/>
              </a:lnSpc>
              <a:spcBef>
                <a:spcPct val="0"/>
              </a:spcBef>
            </a:pPr>
            <a:r>
              <a:rPr lang="en-US" altLang="ko-KR" sz="32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ML </a:t>
            </a:r>
            <a:r>
              <a:rPr lang="en-US" altLang="ko-KR" sz="32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(ver.1)</a:t>
            </a:r>
            <a:r>
              <a:rPr lang="ko-KR" altLang="en-US" sz="32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 </a:t>
            </a:r>
            <a:r>
              <a:rPr lang="en-US" altLang="ko-KR" sz="3200" dirty="0" err="1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Streamlit</a:t>
            </a:r>
            <a:r>
              <a:rPr lang="en-US" altLang="ko-KR" sz="32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 </a:t>
            </a:r>
            <a:r>
              <a:rPr lang="ko-KR" altLang="en-US" sz="32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시각화</a:t>
            </a:r>
            <a:endParaRPr lang="en-US" altLang="ko-KR" sz="3200" dirty="0">
              <a:solidFill>
                <a:srgbClr val="1351AA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9594D45-1E6D-4B0D-997F-EC22E1DF48DC}"/>
              </a:ext>
            </a:extLst>
          </p:cNvPr>
          <p:cNvSpPr txBox="1"/>
          <p:nvPr/>
        </p:nvSpPr>
        <p:spPr>
          <a:xfrm>
            <a:off x="10744200" y="3612832"/>
            <a:ext cx="6951224" cy="5416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 algn="just">
              <a:spcBef>
                <a:spcPct val="0"/>
              </a:spcBef>
              <a:buAutoNum type="arabicPeriod"/>
            </a:pPr>
            <a:r>
              <a:rPr lang="ko-KR" altLang="en-US" sz="32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문제점</a:t>
            </a:r>
            <a:endParaRPr lang="en-US" altLang="ko-KR" sz="3200" dirty="0" smtClean="0">
              <a:solidFill>
                <a:srgbClr val="1351AA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  <a:p>
            <a:pPr marL="971550" lvl="1" indent="-51435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800" dirty="0" err="1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행정동</a:t>
            </a:r>
            <a:r>
              <a:rPr lang="ko-KR" altLang="en-US" sz="28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 </a:t>
            </a:r>
            <a:r>
              <a:rPr lang="ko-KR" altLang="en-US" sz="28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기준 </a:t>
            </a:r>
            <a:r>
              <a:rPr lang="ko-KR" altLang="en-US" sz="28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한계</a:t>
            </a:r>
            <a:endParaRPr lang="en-US" altLang="ko-KR" sz="2800" dirty="0" smtClean="0">
              <a:solidFill>
                <a:srgbClr val="1351AA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  <a:p>
            <a:pPr marL="1428750" lvl="2" indent="-51435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실제 </a:t>
            </a:r>
            <a:r>
              <a:rPr lang="ko-KR" altLang="en-US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상권 범위와 불일치 → 상권 특성 </a:t>
            </a:r>
            <a:r>
              <a:rPr lang="ko-KR" altLang="en-US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왜곡</a:t>
            </a:r>
            <a:endParaRPr lang="en-US" altLang="ko-KR" sz="2400" dirty="0" smtClean="0">
              <a:solidFill>
                <a:srgbClr val="1351AA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  <a:p>
            <a:pPr marL="971550" lvl="1" indent="-51435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8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업종 </a:t>
            </a:r>
            <a:r>
              <a:rPr lang="ko-KR" altLang="en-US" sz="28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데이터 </a:t>
            </a:r>
            <a:r>
              <a:rPr lang="ko-KR" altLang="en-US" sz="28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편중</a:t>
            </a:r>
            <a:endParaRPr lang="en-US" altLang="ko-KR" sz="2800" dirty="0" smtClean="0">
              <a:solidFill>
                <a:srgbClr val="1351AA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  <a:p>
            <a:pPr marL="1428750" lvl="2" indent="-51435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외식업 </a:t>
            </a:r>
            <a:r>
              <a:rPr lang="ko-KR" altLang="en-US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중심 → 상권 </a:t>
            </a:r>
            <a:r>
              <a:rPr lang="ko-KR" altLang="en-US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성격 </a:t>
            </a:r>
            <a:r>
              <a:rPr lang="ko-KR" altLang="en-US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학습 </a:t>
            </a:r>
            <a:r>
              <a:rPr lang="ko-KR" altLang="en-US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한계</a:t>
            </a:r>
            <a:endParaRPr lang="en-US" altLang="ko-KR" sz="2400" dirty="0" smtClean="0">
              <a:solidFill>
                <a:srgbClr val="1351AA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  <a:p>
            <a:pPr algn="just">
              <a:spcBef>
                <a:spcPct val="0"/>
              </a:spcBef>
            </a:pPr>
            <a:endParaRPr lang="en-US" altLang="ko-KR" sz="2400" dirty="0" smtClean="0">
              <a:solidFill>
                <a:srgbClr val="1351AA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  <a:p>
            <a:pPr algn="just">
              <a:spcBef>
                <a:spcPct val="0"/>
              </a:spcBef>
            </a:pPr>
            <a:r>
              <a:rPr lang="en-US" altLang="ko-KR" sz="32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2</a:t>
            </a:r>
            <a:r>
              <a:rPr lang="en-US" altLang="ko-KR" sz="32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. </a:t>
            </a:r>
            <a:r>
              <a:rPr lang="ko-KR" altLang="en-US" sz="32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해결 방안 </a:t>
            </a:r>
            <a:r>
              <a:rPr lang="en-US" altLang="ko-KR" sz="32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(Action Plan</a:t>
            </a:r>
            <a:r>
              <a:rPr lang="en-US" altLang="ko-KR" sz="32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)</a:t>
            </a:r>
          </a:p>
          <a:p>
            <a:pPr marL="800100" lvl="1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공간 단위 </a:t>
            </a:r>
            <a:r>
              <a:rPr lang="ko-KR" altLang="en-US" sz="28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통합</a:t>
            </a:r>
            <a:endParaRPr lang="en-US" altLang="ko-KR" sz="2800" dirty="0" smtClean="0">
              <a:solidFill>
                <a:srgbClr val="1351AA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  <a:p>
            <a:pPr marL="1257300" lvl="2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행정동</a:t>
            </a:r>
            <a:r>
              <a:rPr lang="ko-KR" altLang="en-US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 → </a:t>
            </a:r>
            <a:r>
              <a:rPr lang="ko-KR" altLang="en-US" sz="2400" dirty="0" err="1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법정동</a:t>
            </a:r>
            <a:r>
              <a:rPr lang="en-US" altLang="ko-KR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·</a:t>
            </a:r>
            <a:r>
              <a:rPr lang="ko-KR" altLang="en-US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광역상권</a:t>
            </a:r>
            <a:endParaRPr lang="en-US" altLang="ko-KR" sz="2400" dirty="0" smtClean="0">
              <a:solidFill>
                <a:srgbClr val="1351AA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  <a:p>
            <a:pPr lvl="2" algn="just">
              <a:spcBef>
                <a:spcPct val="0"/>
              </a:spcBef>
            </a:pPr>
            <a:r>
              <a:rPr lang="ko-KR" altLang="en-US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→ </a:t>
            </a:r>
            <a:r>
              <a:rPr lang="ko-KR" altLang="en-US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표본 확대</a:t>
            </a:r>
            <a:r>
              <a:rPr lang="en-US" altLang="ko-KR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, </a:t>
            </a:r>
            <a:r>
              <a:rPr lang="ko-KR" altLang="en-US" sz="2400" dirty="0" err="1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과적합</a:t>
            </a:r>
            <a:r>
              <a:rPr lang="ko-KR" altLang="en-US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 </a:t>
            </a:r>
            <a:r>
              <a:rPr lang="ko-KR" altLang="en-US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완화</a:t>
            </a:r>
            <a:endParaRPr lang="en-US" altLang="ko-KR" sz="2400" dirty="0" smtClean="0">
              <a:solidFill>
                <a:srgbClr val="1351AA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  <a:p>
            <a:pPr marL="800100" lvl="1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8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업종 </a:t>
            </a:r>
            <a:r>
              <a:rPr lang="ko-KR" altLang="en-US" sz="28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범위 </a:t>
            </a:r>
            <a:r>
              <a:rPr lang="ko-KR" altLang="en-US" sz="28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확장</a:t>
            </a:r>
            <a:endParaRPr lang="en-US" altLang="ko-KR" sz="2800" dirty="0" smtClean="0">
              <a:solidFill>
                <a:srgbClr val="1351AA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  <a:p>
            <a:pPr marL="1257300" lvl="2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외식업 </a:t>
            </a:r>
            <a:r>
              <a:rPr lang="en-US" altLang="ko-KR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+ </a:t>
            </a:r>
            <a:r>
              <a:rPr lang="ko-KR" altLang="en-US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서비스</a:t>
            </a:r>
            <a:r>
              <a:rPr lang="en-US" altLang="ko-KR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·</a:t>
            </a:r>
            <a:r>
              <a:rPr lang="ko-KR" altLang="en-US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소매업</a:t>
            </a:r>
            <a:endParaRPr lang="en-US" altLang="ko-KR" sz="2400" dirty="0" smtClean="0">
              <a:solidFill>
                <a:srgbClr val="1351AA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  <a:p>
            <a:pPr lvl="2" algn="just">
              <a:spcBef>
                <a:spcPct val="0"/>
              </a:spcBef>
            </a:pPr>
            <a:r>
              <a:rPr lang="ko-KR" altLang="en-US" sz="2400" dirty="0" smtClean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→ </a:t>
            </a:r>
            <a:r>
              <a:rPr lang="ko-KR" altLang="en-US" sz="2400" dirty="0">
                <a:solidFill>
                  <a:srgbClr val="1351AA"/>
                </a:solidFill>
                <a:latin typeface="페이퍼로지 6 SemiBold" pitchFamily="2" charset="-127"/>
                <a:ea typeface="페이퍼로지 6 SemiBold" pitchFamily="2" charset="-127"/>
                <a:cs typeface="Work Sans"/>
                <a:sym typeface="Work Sans"/>
              </a:rPr>
              <a:t>업종별 상권 특성 분석 가능</a:t>
            </a:r>
            <a:endParaRPr lang="en-US" altLang="ko-KR" sz="2400" dirty="0" smtClean="0">
              <a:solidFill>
                <a:srgbClr val="1351AA"/>
              </a:solidFill>
              <a:latin typeface="페이퍼로지 6 SemiBold" pitchFamily="2" charset="-127"/>
              <a:ea typeface="페이퍼로지 6 SemiBold" pitchFamily="2" charset="-127"/>
              <a:cs typeface="Work Sans"/>
              <a:sym typeface="Work Sans"/>
            </a:endParaRPr>
          </a:p>
        </p:txBody>
      </p:sp>
      <p:grpSp>
        <p:nvGrpSpPr>
          <p:cNvPr id="15" name="Group 26"/>
          <p:cNvGrpSpPr/>
          <p:nvPr/>
        </p:nvGrpSpPr>
        <p:grpSpPr>
          <a:xfrm rot="5400000">
            <a:off x="17053875" y="281626"/>
            <a:ext cx="552450" cy="979799"/>
            <a:chOff x="0" y="0"/>
            <a:chExt cx="189122" cy="335417"/>
          </a:xfrm>
        </p:grpSpPr>
        <p:sp>
          <p:nvSpPr>
            <p:cNvPr id="16" name="Freeform 27"/>
            <p:cNvSpPr/>
            <p:nvPr/>
          </p:nvSpPr>
          <p:spPr>
            <a:xfrm>
              <a:off x="0" y="0"/>
              <a:ext cx="189122" cy="335417"/>
            </a:xfrm>
            <a:custGeom>
              <a:avLst/>
              <a:gdLst/>
              <a:ahLst/>
              <a:cxnLst/>
              <a:rect l="l" t="t" r="r" b="b"/>
              <a:pathLst>
                <a:path w="189122" h="335417">
                  <a:moveTo>
                    <a:pt x="94561" y="0"/>
                  </a:moveTo>
                  <a:lnTo>
                    <a:pt x="94561" y="0"/>
                  </a:lnTo>
                  <a:cubicBezTo>
                    <a:pt x="146785" y="0"/>
                    <a:pt x="189122" y="42336"/>
                    <a:pt x="189122" y="94561"/>
                  </a:cubicBezTo>
                  <a:lnTo>
                    <a:pt x="189122" y="240856"/>
                  </a:lnTo>
                  <a:cubicBezTo>
                    <a:pt x="189122" y="265936"/>
                    <a:pt x="179159" y="289988"/>
                    <a:pt x="161425" y="307721"/>
                  </a:cubicBezTo>
                  <a:cubicBezTo>
                    <a:pt x="143692" y="325455"/>
                    <a:pt x="119640" y="335417"/>
                    <a:pt x="94561" y="335417"/>
                  </a:cubicBezTo>
                  <a:lnTo>
                    <a:pt x="94561" y="335417"/>
                  </a:lnTo>
                  <a:cubicBezTo>
                    <a:pt x="42336" y="335417"/>
                    <a:pt x="0" y="293081"/>
                    <a:pt x="0" y="240856"/>
                  </a:cubicBezTo>
                  <a:lnTo>
                    <a:pt x="0" y="94561"/>
                  </a:lnTo>
                  <a:cubicBezTo>
                    <a:pt x="0" y="69482"/>
                    <a:pt x="9963" y="45430"/>
                    <a:pt x="27696" y="27696"/>
                  </a:cubicBezTo>
                  <a:cubicBezTo>
                    <a:pt x="45430" y="9963"/>
                    <a:pt x="69482" y="0"/>
                    <a:pt x="945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E3E2DE"/>
              </a:solidFill>
              <a:prstDash val="solid"/>
              <a:round/>
            </a:ln>
          </p:spPr>
        </p:sp>
        <p:sp>
          <p:nvSpPr>
            <p:cNvPr id="17" name="TextBox 28"/>
            <p:cNvSpPr txBox="1"/>
            <p:nvPr/>
          </p:nvSpPr>
          <p:spPr>
            <a:xfrm>
              <a:off x="0" y="-9525"/>
              <a:ext cx="189122" cy="344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9"/>
                </a:lnSpc>
              </a:pPr>
              <a:endParaRPr>
                <a:solidFill>
                  <a:srgbClr val="1351AA"/>
                </a:solidFill>
              </a:endParaRPr>
            </a:p>
          </p:txBody>
        </p:sp>
      </p:grpSp>
      <p:grpSp>
        <p:nvGrpSpPr>
          <p:cNvPr id="19" name="Group 11"/>
          <p:cNvGrpSpPr/>
          <p:nvPr/>
        </p:nvGrpSpPr>
        <p:grpSpPr>
          <a:xfrm rot="5400000">
            <a:off x="17053875" y="281626"/>
            <a:ext cx="552450" cy="979799"/>
            <a:chOff x="0" y="0"/>
            <a:chExt cx="189122" cy="335417"/>
          </a:xfrm>
        </p:grpSpPr>
        <p:sp>
          <p:nvSpPr>
            <p:cNvPr id="21" name="Freeform 12"/>
            <p:cNvSpPr/>
            <p:nvPr/>
          </p:nvSpPr>
          <p:spPr>
            <a:xfrm>
              <a:off x="0" y="0"/>
              <a:ext cx="189122" cy="335417"/>
            </a:xfrm>
            <a:custGeom>
              <a:avLst/>
              <a:gdLst/>
              <a:ahLst/>
              <a:cxnLst/>
              <a:rect l="l" t="t" r="r" b="b"/>
              <a:pathLst>
                <a:path w="189122" h="335417">
                  <a:moveTo>
                    <a:pt x="94561" y="0"/>
                  </a:moveTo>
                  <a:lnTo>
                    <a:pt x="94561" y="0"/>
                  </a:lnTo>
                  <a:cubicBezTo>
                    <a:pt x="146785" y="0"/>
                    <a:pt x="189122" y="42336"/>
                    <a:pt x="189122" y="94561"/>
                  </a:cubicBezTo>
                  <a:lnTo>
                    <a:pt x="189122" y="240856"/>
                  </a:lnTo>
                  <a:cubicBezTo>
                    <a:pt x="189122" y="265936"/>
                    <a:pt x="179159" y="289988"/>
                    <a:pt x="161425" y="307721"/>
                  </a:cubicBezTo>
                  <a:cubicBezTo>
                    <a:pt x="143692" y="325455"/>
                    <a:pt x="119640" y="335417"/>
                    <a:pt x="94561" y="335417"/>
                  </a:cubicBezTo>
                  <a:lnTo>
                    <a:pt x="94561" y="335417"/>
                  </a:lnTo>
                  <a:cubicBezTo>
                    <a:pt x="42336" y="335417"/>
                    <a:pt x="0" y="293081"/>
                    <a:pt x="0" y="240856"/>
                  </a:cubicBezTo>
                  <a:lnTo>
                    <a:pt x="0" y="94561"/>
                  </a:lnTo>
                  <a:cubicBezTo>
                    <a:pt x="0" y="69482"/>
                    <a:pt x="9963" y="45430"/>
                    <a:pt x="27696" y="27696"/>
                  </a:cubicBezTo>
                  <a:cubicBezTo>
                    <a:pt x="45430" y="9963"/>
                    <a:pt x="69482" y="0"/>
                    <a:pt x="945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1351AA"/>
              </a:solidFill>
              <a:prstDash val="solid"/>
              <a:round/>
            </a:ln>
          </p:spPr>
        </p:sp>
        <p:sp>
          <p:nvSpPr>
            <p:cNvPr id="23" name="TextBox 13"/>
            <p:cNvSpPr txBox="1"/>
            <p:nvPr/>
          </p:nvSpPr>
          <p:spPr>
            <a:xfrm>
              <a:off x="0" y="-9525"/>
              <a:ext cx="189122" cy="344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9"/>
                </a:lnSpc>
              </a:pPr>
              <a:endParaRPr/>
            </a:p>
          </p:txBody>
        </p:sp>
      </p:grpSp>
      <p:sp>
        <p:nvSpPr>
          <p:cNvPr id="24" name="TextBox 14"/>
          <p:cNvSpPr txBox="1"/>
          <p:nvPr/>
        </p:nvSpPr>
        <p:spPr>
          <a:xfrm>
            <a:off x="16840201" y="652464"/>
            <a:ext cx="979799" cy="291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49"/>
              </a:lnSpc>
              <a:spcBef>
                <a:spcPct val="0"/>
              </a:spcBef>
            </a:pPr>
            <a:r>
              <a:rPr lang="en-US" sz="2499" b="1" dirty="0" smtClean="0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09</a:t>
            </a:r>
            <a:endParaRPr lang="en-US" sz="2499" b="1" dirty="0">
              <a:solidFill>
                <a:srgbClr val="1351AA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</p:txBody>
      </p:sp>
      <p:pic>
        <p:nvPicPr>
          <p:cNvPr id="30" name="Picture 2" descr="C:\Users\82102\Downloads\Animation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116" y="3009900"/>
            <a:ext cx="9561884" cy="6934200"/>
          </a:xfrm>
          <a:prstGeom prst="rect">
            <a:avLst/>
          </a:prstGeom>
          <a:noFill/>
          <a:ln w="57150">
            <a:solidFill>
              <a:srgbClr val="1351AA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9715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1267</TotalTime>
  <Words>462</Words>
  <Application>Microsoft Office PowerPoint</Application>
  <PresentationFormat>사용자 지정</PresentationFormat>
  <Paragraphs>74</Paragraphs>
  <Slides>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5" baseType="lpstr">
      <vt:lpstr>굴림</vt:lpstr>
      <vt:lpstr>Arial</vt:lpstr>
      <vt:lpstr>Aileron Heavy</vt:lpstr>
      <vt:lpstr>맑은 고딕</vt:lpstr>
      <vt:lpstr>페이퍼로지 6 SemiBold</vt:lpstr>
      <vt:lpstr>Work Sans Bold</vt:lpstr>
      <vt:lpstr>Work Sans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Bold Minimalist Project Proposal Presentation</dc:title>
  <dc:creator>Administrator</dc:creator>
  <cp:lastModifiedBy>이수현</cp:lastModifiedBy>
  <cp:revision>77</cp:revision>
  <dcterms:created xsi:type="dcterms:W3CDTF">2006-08-16T00:00:00Z</dcterms:created>
  <dcterms:modified xsi:type="dcterms:W3CDTF">2025-12-21T06:08:14Z</dcterms:modified>
  <dc:identifier>DAG5qZLZ9dk</dc:identifier>
</cp:coreProperties>
</file>