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1" r:id="rId5"/>
    <p:sldId id="260" r:id="rId6"/>
    <p:sldId id="264" r:id="rId7"/>
    <p:sldId id="262" r:id="rId8"/>
    <p:sldId id="263" r:id="rId9"/>
  </p:sldIdLst>
  <p:sldSz cx="18288000" cy="10287000"/>
  <p:notesSz cx="6858000" cy="9144000"/>
  <p:embeddedFontLst>
    <p:embeddedFont>
      <p:font typeface="맑은 고딕" panose="020B0503020000020004" pitchFamily="50" charset="-127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51AA"/>
    <a:srgbClr val="E3E2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2072" autoAdjust="0"/>
  </p:normalViewPr>
  <p:slideViewPr>
    <p:cSldViewPr>
      <p:cViewPr varScale="1">
        <p:scale>
          <a:sx n="47" d="100"/>
          <a:sy n="47" d="100"/>
        </p:scale>
        <p:origin x="1138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31FE3-586A-4F1F-BAF5-67C4E8B6FDB6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7B9F98-6336-4EFE-9E9D-DD9C0BAEA4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468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7B9F98-6336-4EFE-9E9D-DD9C0BAEA41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779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결정 계수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'0.6824' -&gt; {r2_score(</a:t>
            </a: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y_test_a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y_pred_avg_log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):.4f}" -&gt;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모델이 매출 변동을 얼마나 설명하는가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-&gt; 1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가까울수록 좋음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(0.5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이상이면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반타작이상이니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쓸만함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음수면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평균보다 못함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7B9F98-6336-4EFE-9E9D-DD9C0BAEA41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527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62000" y="495300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서울시 상권분석 서비스 데이터 병합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906000" y="1268412"/>
            <a:ext cx="7391400" cy="4800600"/>
          </a:xfrm>
        </p:spPr>
        <p:txBody>
          <a:bodyPr>
            <a:normAutofit/>
          </a:bodyPr>
          <a:lstStyle/>
          <a:p>
            <a:pPr marL="457200" indent="-457200" algn="l">
              <a:buFontTx/>
              <a:buChar char="-"/>
            </a:pPr>
            <a:r>
              <a:rPr lang="ko-KR" altLang="en-US" dirty="0" smtClean="0"/>
              <a:t>데이터 용량 문제로 각각의 데이터셋에서 대표적인 데이터만 뽑아서 병합</a:t>
            </a:r>
            <a:endParaRPr lang="en-US" altLang="ko-KR" dirty="0" smtClean="0"/>
          </a:p>
          <a:p>
            <a:pPr marL="457200" indent="-457200" algn="l">
              <a:buFontTx/>
              <a:buChar char="-"/>
            </a:pPr>
            <a:endParaRPr lang="en-US" altLang="ko-KR" dirty="0"/>
          </a:p>
          <a:p>
            <a:pPr marL="457200" indent="-457200" algn="l">
              <a:buFontTx/>
              <a:buChar char="-"/>
            </a:pPr>
            <a:r>
              <a:rPr lang="en-US" altLang="ko-KR" dirty="0" smtClean="0"/>
              <a:t>‘</a:t>
            </a:r>
            <a:r>
              <a:rPr lang="ko-KR" altLang="en-US" dirty="0" smtClean="0"/>
              <a:t>기준</a:t>
            </a:r>
            <a:r>
              <a:rPr lang="en-US" altLang="ko-KR" dirty="0" smtClean="0"/>
              <a:t>_</a:t>
            </a:r>
            <a:r>
              <a:rPr lang="ko-KR" altLang="en-US" dirty="0" err="1" smtClean="0"/>
              <a:t>년분기</a:t>
            </a:r>
            <a:r>
              <a:rPr lang="en-US" altLang="ko-KR" dirty="0" smtClean="0"/>
              <a:t>_</a:t>
            </a:r>
            <a:r>
              <a:rPr lang="ko-KR" altLang="en-US" dirty="0" smtClean="0"/>
              <a:t>코드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행정동</a:t>
            </a:r>
            <a:r>
              <a:rPr lang="en-US" altLang="ko-KR" dirty="0" smtClean="0"/>
              <a:t>_</a:t>
            </a:r>
            <a:r>
              <a:rPr lang="ko-KR" altLang="en-US" dirty="0" smtClean="0"/>
              <a:t>코드</a:t>
            </a:r>
            <a:r>
              <a:rPr lang="en-US" altLang="ko-KR" dirty="0" smtClean="0"/>
              <a:t>＇</a:t>
            </a:r>
            <a:r>
              <a:rPr lang="ko-KR" altLang="en-US" dirty="0" smtClean="0"/>
              <a:t>를 기준으로 병합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657777"/>
            <a:ext cx="8830907" cy="724953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350" y="5576917"/>
            <a:ext cx="8440328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10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715000" y="342900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err="1" smtClean="0"/>
              <a:t>결측치</a:t>
            </a:r>
            <a:r>
              <a:rPr lang="ko-KR" altLang="en-US" dirty="0" smtClean="0"/>
              <a:t> 확인 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975984"/>
            <a:ext cx="5619740" cy="64225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330" y="2857500"/>
            <a:ext cx="2683080" cy="6833114"/>
          </a:xfrm>
          <a:prstGeom prst="rect">
            <a:avLst/>
          </a:prstGeom>
        </p:spPr>
      </p:pic>
      <p:sp>
        <p:nvSpPr>
          <p:cNvPr id="6" name="부제목 2"/>
          <p:cNvSpPr>
            <a:spLocks noGrp="1"/>
          </p:cNvSpPr>
          <p:nvPr>
            <p:ph type="subTitle" idx="1"/>
          </p:nvPr>
        </p:nvSpPr>
        <p:spPr>
          <a:xfrm>
            <a:off x="9144000" y="4305300"/>
            <a:ext cx="7391400" cy="4800600"/>
          </a:xfrm>
        </p:spPr>
        <p:txBody>
          <a:bodyPr>
            <a:normAutofit/>
          </a:bodyPr>
          <a:lstStyle/>
          <a:p>
            <a:pPr marL="457200" indent="-457200" algn="l">
              <a:buFontTx/>
              <a:buChar char="-"/>
            </a:pPr>
            <a:r>
              <a:rPr lang="ko-KR" altLang="en-US" dirty="0" smtClean="0"/>
              <a:t>원본 데이터셋에는 </a:t>
            </a:r>
            <a:r>
              <a:rPr lang="ko-KR" altLang="en-US" dirty="0" err="1" smtClean="0"/>
              <a:t>결측치가</a:t>
            </a:r>
            <a:r>
              <a:rPr lang="ko-KR" altLang="en-US" dirty="0" smtClean="0"/>
              <a:t> 없었으나 병합 후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총</a:t>
            </a:r>
            <a:r>
              <a:rPr lang="en-US" altLang="ko-KR" dirty="0" smtClean="0"/>
              <a:t>_</a:t>
            </a:r>
            <a:r>
              <a:rPr lang="ko-KR" altLang="en-US" dirty="0" smtClean="0"/>
              <a:t>직장</a:t>
            </a:r>
            <a:r>
              <a:rPr lang="en-US" altLang="ko-KR" dirty="0" smtClean="0"/>
              <a:t>_</a:t>
            </a:r>
            <a:r>
              <a:rPr lang="ko-KR" altLang="en-US" dirty="0" smtClean="0"/>
              <a:t>인구</a:t>
            </a:r>
            <a:r>
              <a:rPr lang="en-US" altLang="ko-KR" dirty="0" smtClean="0"/>
              <a:t>_</a:t>
            </a:r>
            <a:r>
              <a:rPr lang="ko-KR" altLang="en-US" dirty="0" smtClean="0"/>
              <a:t>수</a:t>
            </a:r>
            <a:r>
              <a:rPr lang="en-US" altLang="ko-KR" dirty="0" smtClean="0"/>
              <a:t>＇</a:t>
            </a:r>
            <a:r>
              <a:rPr lang="ko-KR" altLang="en-US" dirty="0" smtClean="0"/>
              <a:t>에서 </a:t>
            </a:r>
            <a:r>
              <a:rPr lang="ko-KR" altLang="en-US" dirty="0" err="1" smtClean="0"/>
              <a:t>결측치</a:t>
            </a:r>
            <a:r>
              <a:rPr lang="ko-KR" altLang="en-US" dirty="0" smtClean="0"/>
              <a:t> 발생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1926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06075" y="495300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err="1" smtClean="0"/>
              <a:t>결측치</a:t>
            </a:r>
            <a:r>
              <a:rPr lang="ko-KR" altLang="en-US" dirty="0" smtClean="0"/>
              <a:t> 발생의 원인 찾기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10800" y="2746874"/>
            <a:ext cx="7315200" cy="2891926"/>
          </a:xfrm>
        </p:spPr>
        <p:txBody>
          <a:bodyPr/>
          <a:lstStyle/>
          <a:p>
            <a:pPr marL="457200" indent="-457200" algn="l">
              <a:buFontTx/>
              <a:buChar char="-"/>
            </a:pPr>
            <a:r>
              <a:rPr lang="ko-KR" altLang="en-US" dirty="0" smtClean="0"/>
              <a:t>매출 데이터에는 있으나 </a:t>
            </a:r>
            <a:r>
              <a:rPr lang="ko-KR" altLang="en-US" dirty="0" err="1" smtClean="0"/>
              <a:t>직장인구</a:t>
            </a:r>
            <a:r>
              <a:rPr lang="ko-KR" altLang="en-US" dirty="0" smtClean="0"/>
              <a:t> 데이터에는 없는 행정동 코드 확인</a:t>
            </a:r>
            <a:endParaRPr lang="en-US" altLang="ko-KR" dirty="0" smtClean="0"/>
          </a:p>
          <a:p>
            <a:pPr marL="457200" indent="-457200" algn="l">
              <a:buFontTx/>
              <a:buChar char="-"/>
            </a:pPr>
            <a:r>
              <a:rPr lang="ko-KR" altLang="en-US" dirty="0" smtClean="0"/>
              <a:t>실제로 </a:t>
            </a:r>
            <a:r>
              <a:rPr lang="ko-KR" altLang="en-US" dirty="0" err="1" smtClean="0"/>
              <a:t>직장인구</a:t>
            </a:r>
            <a:r>
              <a:rPr lang="ko-KR" altLang="en-US" dirty="0" smtClean="0"/>
              <a:t> 데이터에는 없는 행정동 코드가 발견되었다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137" y="2714217"/>
            <a:ext cx="8240275" cy="292458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428" y="6387692"/>
            <a:ext cx="5677692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62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67400" y="495300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err="1" smtClean="0"/>
              <a:t>결측치</a:t>
            </a:r>
            <a:r>
              <a:rPr lang="ko-KR" altLang="en-US" dirty="0" smtClean="0"/>
              <a:t> 처리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10800" y="3886200"/>
            <a:ext cx="7010400" cy="2857500"/>
          </a:xfrm>
        </p:spPr>
        <p:txBody>
          <a:bodyPr/>
          <a:lstStyle/>
          <a:p>
            <a:pPr marL="457200" indent="-457200" algn="l">
              <a:buFontTx/>
              <a:buChar char="-"/>
            </a:pPr>
            <a:r>
              <a:rPr lang="ko-KR" altLang="en-US" dirty="0" err="1" smtClean="0"/>
              <a:t>결측치를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행정동별</a:t>
            </a:r>
            <a:r>
              <a:rPr lang="ko-KR" altLang="en-US" dirty="0" smtClean="0"/>
              <a:t> 평균 </a:t>
            </a:r>
            <a:r>
              <a:rPr lang="ko-KR" altLang="en-US" dirty="0" err="1" smtClean="0"/>
              <a:t>직장인구로</a:t>
            </a:r>
            <a:r>
              <a:rPr lang="ko-KR" altLang="en-US" dirty="0" smtClean="0"/>
              <a:t> 대체</a:t>
            </a:r>
            <a:endParaRPr lang="en-US" altLang="ko-KR" dirty="0" smtClean="0"/>
          </a:p>
          <a:p>
            <a:pPr marL="457200" indent="-457200" algn="l">
              <a:buFontTx/>
              <a:buChar char="-"/>
            </a:pPr>
            <a:r>
              <a:rPr lang="ko-KR" altLang="en-US" dirty="0" smtClean="0"/>
              <a:t>그래도 혹시나 남아있는 </a:t>
            </a:r>
            <a:r>
              <a:rPr lang="ko-KR" altLang="en-US" dirty="0" err="1" smtClean="0"/>
              <a:t>결측치는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대체</a:t>
            </a:r>
            <a:endParaRPr lang="en-US" altLang="ko-KR" dirty="0" smtClean="0"/>
          </a:p>
          <a:p>
            <a:pPr marL="457200" indent="-457200" algn="l">
              <a:buFontTx/>
              <a:buChar char="-"/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13828"/>
            <a:ext cx="8230749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37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647700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데이터 전처리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058400" y="2552700"/>
            <a:ext cx="7086600" cy="6477000"/>
          </a:xfrm>
        </p:spPr>
        <p:txBody>
          <a:bodyPr>
            <a:normAutofit/>
          </a:bodyPr>
          <a:lstStyle/>
          <a:p>
            <a:pPr algn="l"/>
            <a:endParaRPr lang="en-US" altLang="ko-KR" dirty="0"/>
          </a:p>
          <a:p>
            <a:pPr marL="457200" indent="-457200" algn="l">
              <a:buFontTx/>
              <a:buChar char="-"/>
            </a:pPr>
            <a:r>
              <a:rPr lang="ko-KR" altLang="en-US" dirty="0" smtClean="0"/>
              <a:t>서비스 업종 코드 명은 문자열이기 때문에 </a:t>
            </a:r>
            <a:r>
              <a:rPr lang="ko-KR" altLang="en-US" dirty="0" err="1" smtClean="0"/>
              <a:t>머신러닝모델을</a:t>
            </a:r>
            <a:r>
              <a:rPr lang="ko-KR" altLang="en-US" dirty="0" smtClean="0"/>
              <a:t> 돌리기 위해서 </a:t>
            </a:r>
            <a:r>
              <a:rPr lang="en-US" altLang="ko-KR" dirty="0" smtClean="0"/>
              <a:t>One-Hot Encoding</a:t>
            </a:r>
          </a:p>
          <a:p>
            <a:pPr marL="457200" indent="-457200" algn="l">
              <a:buFontTx/>
              <a:buChar char="-"/>
            </a:pPr>
            <a:r>
              <a:rPr lang="ko-KR" altLang="en-US" dirty="0" err="1" smtClean="0"/>
              <a:t>정답값이</a:t>
            </a:r>
            <a:r>
              <a:rPr lang="ko-KR" altLang="en-US" dirty="0" smtClean="0"/>
              <a:t> 될 매출액 단위가 너무 크기 때문에 로그 변환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65437"/>
            <a:ext cx="7859222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361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525000" y="1499610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 smtClean="0"/>
              <a:t>모델 생성 및 학습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10800" y="2990850"/>
            <a:ext cx="6934200" cy="6787140"/>
          </a:xfrm>
        </p:spPr>
        <p:txBody>
          <a:bodyPr>
            <a:normAutofit/>
          </a:bodyPr>
          <a:lstStyle/>
          <a:p>
            <a:pPr marL="457200" indent="-457200" algn="l">
              <a:buFontTx/>
              <a:buChar char="-"/>
            </a:pPr>
            <a:r>
              <a:rPr lang="ko-KR" altLang="en-US" dirty="0" smtClean="0"/>
              <a:t>선택한 모델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XGBRegressor</a:t>
            </a:r>
            <a:r>
              <a:rPr lang="en-US" altLang="ko-KR" dirty="0" smtClean="0"/>
              <a:t> -&gt; </a:t>
            </a:r>
            <a:r>
              <a:rPr lang="en-US" altLang="ko-KR" dirty="0" err="1" smtClean="0"/>
              <a:t>XGBoost</a:t>
            </a:r>
            <a:r>
              <a:rPr lang="ko-KR" altLang="en-US" dirty="0" smtClean="0"/>
              <a:t>의 라이브러리 회귀 모델로 내부적으로 여러 개의 </a:t>
            </a:r>
            <a:r>
              <a:rPr lang="ko-KR" altLang="en-US" dirty="0" err="1" smtClean="0"/>
              <a:t>결정트리를</a:t>
            </a:r>
            <a:r>
              <a:rPr lang="ko-KR" altLang="en-US" dirty="0" smtClean="0"/>
              <a:t> 순차적으로 학습시켜 이전 모델의 오차를 계속해서 보정해나가기때문에 변수나 관계가 많은 매출 예측과 같은 데이터분석에 용이하다</a:t>
            </a:r>
            <a:r>
              <a:rPr lang="en-US" altLang="ko-KR" dirty="0" smtClean="0"/>
              <a:t>.</a:t>
            </a:r>
          </a:p>
          <a:p>
            <a:pPr marL="457200" indent="-457200" algn="l">
              <a:buFontTx/>
              <a:buChar char="-"/>
            </a:pPr>
            <a:r>
              <a:rPr lang="ko-KR" altLang="en-US" dirty="0" smtClean="0"/>
              <a:t>결정 계수</a:t>
            </a:r>
            <a:r>
              <a:rPr lang="en-US" altLang="ko-KR" dirty="0" smtClean="0"/>
              <a:t>(R2 Score): 0.6824 -&gt; </a:t>
            </a:r>
            <a:r>
              <a:rPr lang="ko-KR" altLang="en-US" dirty="0" smtClean="0"/>
              <a:t>이 모델은 예상 매출을 </a:t>
            </a:r>
            <a:r>
              <a:rPr lang="en-US" altLang="ko-KR" dirty="0" smtClean="0"/>
              <a:t>68%</a:t>
            </a:r>
            <a:r>
              <a:rPr lang="ko-KR" altLang="en-US" dirty="0" smtClean="0"/>
              <a:t>정도의 확률로 맞춘다</a:t>
            </a:r>
            <a:endParaRPr lang="en-US" altLang="ko-KR" dirty="0" smtClean="0"/>
          </a:p>
          <a:p>
            <a:pPr marL="457200" indent="-457200" algn="l">
              <a:buFontTx/>
              <a:buChar char="-"/>
            </a:pPr>
            <a:r>
              <a:rPr lang="ko-KR" altLang="en-US" dirty="0" smtClean="0"/>
              <a:t>점포당 평균 매출 오차</a:t>
            </a:r>
            <a:r>
              <a:rPr lang="en-US" altLang="ko-KR" dirty="0" smtClean="0"/>
              <a:t>(MAE): 19,854,802</a:t>
            </a:r>
            <a:r>
              <a:rPr lang="ko-KR" altLang="en-US" dirty="0" smtClean="0"/>
              <a:t>원 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99610"/>
            <a:ext cx="8364117" cy="827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140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981200" y="647700"/>
            <a:ext cx="8382000" cy="1470025"/>
          </a:xfrm>
        </p:spPr>
        <p:txBody>
          <a:bodyPr/>
          <a:lstStyle/>
          <a:p>
            <a:r>
              <a:rPr lang="en-US" altLang="ko-KR" dirty="0" smtClean="0"/>
              <a:t>7. </a:t>
            </a:r>
            <a:r>
              <a:rPr lang="ko-KR" altLang="en-US" dirty="0" smtClean="0"/>
              <a:t>타당성 검증을 위한 </a:t>
            </a:r>
            <a:r>
              <a:rPr lang="ko-KR" altLang="en-US" dirty="0" err="1" smtClean="0"/>
              <a:t>잔차</a:t>
            </a:r>
            <a:r>
              <a:rPr lang="ko-KR" altLang="en-US" dirty="0" smtClean="0"/>
              <a:t> 분석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059887" y="3086100"/>
            <a:ext cx="6400800" cy="5334000"/>
          </a:xfrm>
        </p:spPr>
        <p:txBody>
          <a:bodyPr/>
          <a:lstStyle/>
          <a:p>
            <a:pPr marL="457200" indent="-457200" algn="l">
              <a:buFontTx/>
              <a:buChar char="-"/>
            </a:pPr>
            <a:r>
              <a:rPr lang="ko-KR" altLang="en-US" dirty="0" smtClean="0"/>
              <a:t>예측한 값과 </a:t>
            </a:r>
            <a:r>
              <a:rPr lang="ko-KR" altLang="en-US" dirty="0" err="1" smtClean="0"/>
              <a:t>실제값이</a:t>
            </a:r>
            <a:r>
              <a:rPr lang="ko-KR" altLang="en-US" dirty="0" smtClean="0"/>
              <a:t> 얼마나 차이가 나는지 </a:t>
            </a:r>
            <a:r>
              <a:rPr lang="ko-KR" altLang="en-US" dirty="0" err="1" smtClean="0"/>
              <a:t>잔차</a:t>
            </a:r>
            <a:r>
              <a:rPr lang="ko-KR" altLang="en-US" dirty="0" smtClean="0"/>
              <a:t> 분석 실행</a:t>
            </a:r>
            <a:endParaRPr lang="en-US" altLang="ko-KR" dirty="0" smtClean="0"/>
          </a:p>
          <a:p>
            <a:pPr marL="457200" indent="-457200" algn="l">
              <a:buFontTx/>
              <a:buChar char="-"/>
            </a:pPr>
            <a:r>
              <a:rPr lang="ko-KR" altLang="en-US" dirty="0" smtClean="0"/>
              <a:t>대부분의 값들이 예측한 값인 빨간 점선 주변에 있다</a:t>
            </a:r>
            <a:endParaRPr lang="en-US" altLang="ko-KR" dirty="0" smtClean="0"/>
          </a:p>
          <a:p>
            <a:pPr marL="457200" indent="-457200" algn="l">
              <a:buFontTx/>
              <a:buChar char="-"/>
            </a:pPr>
            <a:r>
              <a:rPr lang="ko-KR" altLang="en-US" dirty="0" smtClean="0"/>
              <a:t>몇 </a:t>
            </a:r>
            <a:r>
              <a:rPr lang="ko-KR" altLang="en-US" dirty="0" err="1" smtClean="0"/>
              <a:t>몇</a:t>
            </a:r>
            <a:r>
              <a:rPr lang="ko-KR" altLang="en-US" dirty="0" smtClean="0"/>
              <a:t> 개의 </a:t>
            </a:r>
            <a:r>
              <a:rPr lang="ko-KR" altLang="en-US" dirty="0" err="1" smtClean="0"/>
              <a:t>예측값과</a:t>
            </a:r>
            <a:r>
              <a:rPr lang="ko-KR" altLang="en-US" dirty="0" smtClean="0"/>
              <a:t> 동떨어진 값들도 있으나 홍대나 명동같은 데이터가 설명할 수 없는 초거대 상권일 가능성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2552700"/>
            <a:ext cx="10668000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234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57842" y="266700"/>
            <a:ext cx="10014958" cy="1470025"/>
          </a:xfrm>
        </p:spPr>
        <p:txBody>
          <a:bodyPr/>
          <a:lstStyle/>
          <a:p>
            <a:r>
              <a:rPr lang="en-US" altLang="ko-KR" dirty="0" smtClean="0"/>
              <a:t>8. </a:t>
            </a:r>
            <a:r>
              <a:rPr lang="ko-KR" altLang="en-US" dirty="0" smtClean="0"/>
              <a:t>데이터 기반 예상 </a:t>
            </a:r>
            <a:r>
              <a:rPr lang="ko-KR" altLang="en-US" smtClean="0"/>
              <a:t>매출 </a:t>
            </a:r>
            <a:r>
              <a:rPr lang="ko-KR" altLang="en-US" smtClean="0"/>
              <a:t>시뮬레이터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982200" y="1665826"/>
            <a:ext cx="7239000" cy="5001674"/>
          </a:xfrm>
        </p:spPr>
        <p:txBody>
          <a:bodyPr/>
          <a:lstStyle/>
          <a:p>
            <a:pPr marL="457200" indent="-457200" algn="l">
              <a:buFontTx/>
              <a:buChar char="-"/>
            </a:pPr>
            <a:r>
              <a:rPr lang="ko-KR" altLang="en-US" dirty="0" smtClean="0"/>
              <a:t>사용자에게 지역</a:t>
            </a:r>
            <a:r>
              <a:rPr lang="en-US" altLang="ko-KR" dirty="0" smtClean="0"/>
              <a:t>(</a:t>
            </a:r>
            <a:r>
              <a:rPr lang="ko-KR" altLang="en-US" dirty="0" smtClean="0"/>
              <a:t>행정동</a:t>
            </a:r>
            <a:r>
              <a:rPr lang="en-US" altLang="ko-KR" dirty="0" smtClean="0"/>
              <a:t>)</a:t>
            </a:r>
            <a:r>
              <a:rPr lang="ko-KR" altLang="en-US" dirty="0" smtClean="0"/>
              <a:t>과 업종을 입력 </a:t>
            </a:r>
            <a:endParaRPr lang="en-US" altLang="ko-KR" dirty="0" smtClean="0"/>
          </a:p>
          <a:p>
            <a:pPr marL="457200" indent="-457200" algn="l">
              <a:buFontTx/>
              <a:buChar char="-"/>
            </a:pPr>
            <a:r>
              <a:rPr lang="ko-KR" altLang="en-US" dirty="0" smtClean="0"/>
              <a:t>사용자가 입력한 지역의 지표를 추출</a:t>
            </a:r>
            <a:r>
              <a:rPr lang="en-US" altLang="ko-KR" dirty="0" smtClean="0"/>
              <a:t>(ex: </a:t>
            </a:r>
            <a:r>
              <a:rPr lang="ko-KR" altLang="en-US" dirty="0" smtClean="0"/>
              <a:t>유동인구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소득소비</a:t>
            </a:r>
            <a:r>
              <a:rPr lang="ko-KR" altLang="en-US" dirty="0" smtClean="0"/>
              <a:t> 등</a:t>
            </a:r>
            <a:r>
              <a:rPr lang="en-US" altLang="ko-KR" dirty="0" smtClean="0"/>
              <a:t>)</a:t>
            </a:r>
          </a:p>
          <a:p>
            <a:pPr marL="457200" indent="-457200" algn="l">
              <a:buFontTx/>
              <a:buChar char="-"/>
            </a:pPr>
            <a:r>
              <a:rPr lang="ko-KR" altLang="en-US" dirty="0" smtClean="0"/>
              <a:t>서울 전체 </a:t>
            </a:r>
            <a:r>
              <a:rPr lang="ko-KR" altLang="en-US" dirty="0" err="1" smtClean="0"/>
              <a:t>평균지표와</a:t>
            </a:r>
            <a:r>
              <a:rPr lang="ko-KR" altLang="en-US" dirty="0" smtClean="0"/>
              <a:t> 비교</a:t>
            </a:r>
            <a:endParaRPr lang="en-US" altLang="ko-KR" dirty="0" smtClean="0"/>
          </a:p>
          <a:p>
            <a:pPr marL="457200" indent="-457200" algn="l">
              <a:buFontTx/>
              <a:buChar char="-"/>
            </a:pPr>
            <a:r>
              <a:rPr lang="en-US" altLang="ko-KR" dirty="0" smtClean="0"/>
              <a:t>One Hot Encoding</a:t>
            </a:r>
            <a:r>
              <a:rPr lang="ko-KR" altLang="en-US" dirty="0" smtClean="0"/>
              <a:t>을 통해서 사용자가 선택한 지역은 </a:t>
            </a:r>
            <a:r>
              <a:rPr lang="en-US" altLang="ko-KR" dirty="0" smtClean="0"/>
              <a:t>1, </a:t>
            </a:r>
            <a:r>
              <a:rPr lang="ko-KR" altLang="en-US" dirty="0" smtClean="0"/>
              <a:t>나머지는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</a:t>
            </a:r>
            <a:r>
              <a:rPr lang="ko-KR" altLang="en-US" dirty="0" err="1" smtClean="0"/>
              <a:t>만듬</a:t>
            </a:r>
            <a:endParaRPr lang="en-US" altLang="ko-KR" dirty="0" smtClean="0"/>
          </a:p>
          <a:p>
            <a:pPr marL="457200" indent="-457200" algn="l">
              <a:buFontTx/>
              <a:buChar char="-"/>
            </a:pPr>
            <a:r>
              <a:rPr lang="ko-KR" altLang="en-US" dirty="0" smtClean="0"/>
              <a:t>매출 예측</a:t>
            </a:r>
            <a:endParaRPr lang="en-US" altLang="ko-KR" dirty="0" smtClean="0"/>
          </a:p>
          <a:p>
            <a:pPr marL="457200" indent="-457200" algn="l">
              <a:buFontTx/>
              <a:buChar char="-"/>
            </a:pP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23026"/>
            <a:ext cx="8316486" cy="751627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127" y="6981443"/>
            <a:ext cx="6973273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70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1669</TotalTime>
  <Words>276</Words>
  <Application>Microsoft Office PowerPoint</Application>
  <PresentationFormat>사용자 지정</PresentationFormat>
  <Paragraphs>33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1. 서울시 상권분석 서비스 데이터 병합</vt:lpstr>
      <vt:lpstr>2. 결측치 확인 </vt:lpstr>
      <vt:lpstr>3. 결측치 발생의 원인 찾기</vt:lpstr>
      <vt:lpstr>4. 결측치 처리</vt:lpstr>
      <vt:lpstr>5. 데이터 전처리</vt:lpstr>
      <vt:lpstr>6. 모델 생성 및 학습</vt:lpstr>
      <vt:lpstr>7. 타당성 검증을 위한 잔차 분석</vt:lpstr>
      <vt:lpstr>8. 데이터 기반 예상 매출 시뮬레이터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Bold Minimalist Project Proposal Presentation</dc:title>
  <dc:creator>Administrator</dc:creator>
  <cp:lastModifiedBy>User</cp:lastModifiedBy>
  <cp:revision>88</cp:revision>
  <dcterms:created xsi:type="dcterms:W3CDTF">2006-08-16T00:00:00Z</dcterms:created>
  <dcterms:modified xsi:type="dcterms:W3CDTF">2025-12-21T13:23:11Z</dcterms:modified>
  <dc:identifier>DAG5qZLZ9dk</dc:identifier>
</cp:coreProperties>
</file>