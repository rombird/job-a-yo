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4"/>
  </p:notesMasterIdLst>
  <p:sldIdLst>
    <p:sldId id="358" r:id="rId2"/>
    <p:sldId id="355" r:id="rId3"/>
  </p:sldIdLst>
  <p:sldSz cx="24384000" cy="13716000"/>
  <p:notesSz cx="6858000" cy="9144000"/>
  <p:embeddedFontLst>
    <p:embeddedFont>
      <p:font typeface="프리젠테이션 4 Regular" charset="-127"/>
      <p:regular r:id="rId5"/>
    </p:embeddedFont>
    <p:embeddedFont>
      <p:font typeface="프리젠테이션 5 Medium" charset="-127"/>
      <p:regular r:id="rId6"/>
    </p:embeddedFont>
    <p:embeddedFont>
      <p:font typeface="프리젠테이션 6 SemiBold" charset="-127"/>
      <p:bold r:id="rId7"/>
    </p:embeddedFont>
    <p:embeddedFont>
      <p:font typeface="Calibri" panose="020F0502020204030204" pitchFamily="34" charset="0"/>
      <p:regular r:id="rId8"/>
      <p:bold r:id="rId9"/>
      <p:italic r:id="rId10"/>
      <p:boldItalic r:id="rId11"/>
    </p:embeddedFont>
    <p:embeddedFont>
      <p:font typeface="맑은 고딕" panose="020B0503020000020004" pitchFamily="50" charset="-127"/>
      <p:regular r:id="rId12"/>
      <p:bold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새롬 임" initials="새임" lastIdx="1" clrIdx="0">
    <p:extLst>
      <p:ext uri="{19B8F6BF-5375-455C-9EA6-DF929625EA0E}">
        <p15:presenceInfo xmlns:p15="http://schemas.microsoft.com/office/powerpoint/2012/main" userId="86ce26321b39ebd9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0504D"/>
    <a:srgbClr val="838EA9"/>
    <a:srgbClr val="344252"/>
    <a:srgbClr val="323232"/>
    <a:srgbClr val="4E5A68"/>
    <a:srgbClr val="7F8690"/>
    <a:srgbClr val="F2F2F2"/>
    <a:srgbClr val="F8F8F8"/>
    <a:srgbClr val="313234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158" autoAdjust="0"/>
    <p:restoredTop sz="93817" autoAdjust="0"/>
  </p:normalViewPr>
  <p:slideViewPr>
    <p:cSldViewPr>
      <p:cViewPr>
        <p:scale>
          <a:sx n="33" d="100"/>
          <a:sy n="33" d="100"/>
        </p:scale>
        <p:origin x="174" y="120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4.fntdata"/><Relationship Id="rId13" Type="http://schemas.openxmlformats.org/officeDocument/2006/relationships/font" Target="fonts/font9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font" Target="fonts/font3.fntdata"/><Relationship Id="rId12" Type="http://schemas.openxmlformats.org/officeDocument/2006/relationships/font" Target="fonts/font8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2.fntdata"/><Relationship Id="rId11" Type="http://schemas.openxmlformats.org/officeDocument/2006/relationships/font" Target="fonts/font7.fntdata"/><Relationship Id="rId5" Type="http://schemas.openxmlformats.org/officeDocument/2006/relationships/font" Target="fonts/font1.fntdata"/><Relationship Id="rId15" Type="http://schemas.openxmlformats.org/officeDocument/2006/relationships/presProps" Target="presProps.xml"/><Relationship Id="rId10" Type="http://schemas.openxmlformats.org/officeDocument/2006/relationships/font" Target="fonts/font6.fntdata"/><Relationship Id="rId4" Type="http://schemas.openxmlformats.org/officeDocument/2006/relationships/notesMaster" Target="notesMasters/notesMaster1.xml"/><Relationship Id="rId9" Type="http://schemas.openxmlformats.org/officeDocument/2006/relationships/font" Target="fonts/font5.fntdata"/><Relationship Id="rId14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8149B8F-884D-4D54-A4F5-AA62EB8D3B4B}" type="datetimeFigureOut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35ACBB9-8713-4876-B330-FCBB25BD24C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916339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117EE8-837B-BB60-5B4E-597BEA1B0F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501A377-730F-E977-1D8E-382D66A8AE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6E22234-1D53-0BA8-B31E-0000DEF297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95243FB-D230-8D0B-7506-AC975987676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5ACBB9-8713-4876-B330-FCBB25BD24C1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816011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6.png"/><Relationship Id="rId7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1.pn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989495-914F-F42F-03B0-6EDD1A4563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>
            <a:extLst>
              <a:ext uri="{FF2B5EF4-FFF2-40B4-BE49-F238E27FC236}">
                <a16:creationId xmlns:a16="http://schemas.microsoft.com/office/drawing/2014/main" id="{AF2619AD-DE16-EB5D-E23E-6F576974794A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tx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-584200" y="990600"/>
            <a:ext cx="1155700" cy="1155700"/>
          </a:xfrm>
          <a:prstGeom prst="rect">
            <a:avLst/>
          </a:prstGeom>
        </p:spPr>
      </p:pic>
      <p:pic>
        <p:nvPicPr>
          <p:cNvPr id="9" name="Picture 2">
            <a:extLst>
              <a:ext uri="{FF2B5EF4-FFF2-40B4-BE49-F238E27FC236}">
                <a16:creationId xmlns:a16="http://schemas.microsoft.com/office/drawing/2014/main" id="{A5AEDA02-09C0-6051-6B95-3A869D11BF2F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tx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-50800" y="13373100"/>
            <a:ext cx="24765000" cy="355600"/>
          </a:xfrm>
          <a:prstGeom prst="rect">
            <a:avLst/>
          </a:prstGeom>
        </p:spPr>
      </p:pic>
      <p:pic>
        <p:nvPicPr>
          <p:cNvPr id="10" name="Picture 4">
            <a:extLst>
              <a:ext uri="{FF2B5EF4-FFF2-40B4-BE49-F238E27FC236}">
                <a16:creationId xmlns:a16="http://schemas.microsoft.com/office/drawing/2014/main" id="{6A0FC46D-20E3-44EA-BEA0-F931AF114FE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flipH="1">
            <a:off x="5797307" y="1077635"/>
            <a:ext cx="57392" cy="994765"/>
          </a:xfrm>
          <a:prstGeom prst="rect">
            <a:avLst/>
          </a:prstGeom>
          <a:effectLst>
            <a:outerShdw blurRad="2540" dist="5862" dir="2700000">
              <a:srgbClr val="1E1E1E">
                <a:alpha val="50000"/>
              </a:srgbClr>
            </a:outerShdw>
          </a:effectLst>
        </p:spPr>
      </p:pic>
      <p:sp>
        <p:nvSpPr>
          <p:cNvPr id="12" name="TextBox 32">
            <a:extLst>
              <a:ext uri="{FF2B5EF4-FFF2-40B4-BE49-F238E27FC236}">
                <a16:creationId xmlns:a16="http://schemas.microsoft.com/office/drawing/2014/main" id="{27E99C58-F041-45AD-86A3-7FA614D4D6D2}"/>
              </a:ext>
            </a:extLst>
          </p:cNvPr>
          <p:cNvSpPr txBox="1"/>
          <p:nvPr/>
        </p:nvSpPr>
        <p:spPr>
          <a:xfrm>
            <a:off x="6026392" y="1429449"/>
            <a:ext cx="12185408" cy="1155700"/>
          </a:xfrm>
          <a:prstGeom prst="rect">
            <a:avLst/>
          </a:prstGeom>
        </p:spPr>
        <p:txBody>
          <a:bodyPr rtlCol="0" anchor="t"/>
          <a:lstStyle/>
          <a:p>
            <a:pPr>
              <a:lnSpc>
                <a:spcPct val="116199"/>
              </a:lnSpc>
            </a:pPr>
            <a:r>
              <a:rPr lang="en-US" sz="4800" b="0" i="0" u="none" strike="noStrike" dirty="0">
                <a:solidFill>
                  <a:srgbClr val="1E1E1E"/>
                </a:solidFill>
                <a:latin typeface="프리젠테이션 6 SemiBold" pitchFamily="2" charset="-127"/>
                <a:ea typeface="프리젠테이션 6 SemiBold" pitchFamily="2" charset="-127"/>
              </a:rPr>
              <a:t> </a:t>
            </a:r>
            <a:r>
              <a:rPr lang="en-US" sz="4800" dirty="0">
                <a:solidFill>
                  <a:srgbClr val="1E1E1E"/>
                </a:solidFill>
                <a:latin typeface="프리젠테이션 6 SemiBold" pitchFamily="2" charset="-127"/>
                <a:ea typeface="프리젠테이션 6 SemiBold" pitchFamily="2" charset="-127"/>
              </a:rPr>
              <a:t>STEP2.</a:t>
            </a:r>
            <a:r>
              <a:rPr lang="ko-KR" altLang="en-US" sz="4800" dirty="0">
                <a:solidFill>
                  <a:srgbClr val="1E1E1E"/>
                </a:solidFill>
                <a:latin typeface="프리젠테이션 6 SemiBold" pitchFamily="2" charset="-127"/>
                <a:ea typeface="프리젠테이션 6 SemiBold" pitchFamily="2" charset="-127"/>
              </a:rPr>
              <a:t> </a:t>
            </a:r>
            <a:r>
              <a:rPr lang="ko-KR" altLang="en-US" sz="4800" b="0" i="0" u="none" strike="noStrike" dirty="0">
                <a:solidFill>
                  <a:srgbClr val="1E1E1E"/>
                </a:solidFill>
                <a:latin typeface="프리젠테이션 6 SemiBold" pitchFamily="2" charset="-127"/>
                <a:ea typeface="프리젠테이션 6 SemiBold" pitchFamily="2" charset="-127"/>
              </a:rPr>
              <a:t>관광객 실적 추출</a:t>
            </a:r>
            <a:endParaRPr lang="ko-KR" sz="4800" b="0" i="0" u="none" strike="noStrike" dirty="0">
              <a:solidFill>
                <a:srgbClr val="1E1E1E"/>
              </a:solidFill>
              <a:latin typeface="프리젠테이션 6 SemiBold" pitchFamily="2" charset="-127"/>
              <a:ea typeface="프리젠테이션 6 SemiBold" pitchFamily="2" charset="-127"/>
            </a:endParaRPr>
          </a:p>
        </p:txBody>
      </p:sp>
      <p:sp>
        <p:nvSpPr>
          <p:cNvPr id="13" name="TextBox 11">
            <a:extLst>
              <a:ext uri="{FF2B5EF4-FFF2-40B4-BE49-F238E27FC236}">
                <a16:creationId xmlns:a16="http://schemas.microsoft.com/office/drawing/2014/main" id="{B6C0404F-8753-4B7D-A5E5-E37784BFEF68}"/>
              </a:ext>
            </a:extLst>
          </p:cNvPr>
          <p:cNvSpPr txBox="1"/>
          <p:nvPr/>
        </p:nvSpPr>
        <p:spPr>
          <a:xfrm>
            <a:off x="6120981" y="990600"/>
            <a:ext cx="3276600" cy="4318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16199"/>
              </a:lnSpc>
            </a:pPr>
            <a:r>
              <a:rPr lang="ko-KR" altLang="en-US" sz="2800" dirty="0">
                <a:solidFill>
                  <a:srgbClr val="7F8690"/>
                </a:solidFill>
                <a:latin typeface="프리젠테이션 6 SemiBold" pitchFamily="2" charset="-127"/>
                <a:ea typeface="프리젠테이션 6 SemiBold" pitchFamily="2" charset="-127"/>
              </a:rPr>
              <a:t>데이터 분석</a:t>
            </a:r>
            <a:endParaRPr lang="en" sz="2800" b="0" i="0" u="none" strike="noStrike" dirty="0">
              <a:solidFill>
                <a:srgbClr val="7F8690"/>
              </a:solidFill>
              <a:latin typeface="프리젠테이션 6 SemiBold" pitchFamily="2" charset="-127"/>
              <a:ea typeface="프리젠테이션 6 SemiBold" pitchFamily="2" charset="-127"/>
            </a:endParaRPr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FFEFF856-CE60-4F2B-9E8E-6C7092E83DCA}"/>
              </a:ext>
            </a:extLst>
          </p:cNvPr>
          <p:cNvCxnSpPr>
            <a:cxnSpLocks/>
            <a:stCxn id="28" idx="6"/>
          </p:cNvCxnSpPr>
          <p:nvPr/>
        </p:nvCxnSpPr>
        <p:spPr>
          <a:xfrm flipV="1">
            <a:off x="3905250" y="6706510"/>
            <a:ext cx="14283415" cy="9281"/>
          </a:xfrm>
          <a:prstGeom prst="line">
            <a:avLst/>
          </a:prstGeom>
          <a:ln w="762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A6986C4E-91EC-423F-89C3-1C2D9D40CBA1}"/>
              </a:ext>
            </a:extLst>
          </p:cNvPr>
          <p:cNvCxnSpPr>
            <a:cxnSpLocks/>
          </p:cNvCxnSpPr>
          <p:nvPr/>
        </p:nvCxnSpPr>
        <p:spPr>
          <a:xfrm flipV="1">
            <a:off x="6026392" y="3182401"/>
            <a:ext cx="0" cy="3505201"/>
          </a:xfrm>
          <a:prstGeom prst="line">
            <a:avLst/>
          </a:prstGeom>
          <a:ln w="57150">
            <a:solidFill>
              <a:srgbClr val="838EA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235A67EB-F18C-EFEC-6518-F86792A962DB}"/>
              </a:ext>
            </a:extLst>
          </p:cNvPr>
          <p:cNvGrpSpPr/>
          <p:nvPr/>
        </p:nvGrpSpPr>
        <p:grpSpPr>
          <a:xfrm>
            <a:off x="6365710" y="3394374"/>
            <a:ext cx="10511724" cy="1694578"/>
            <a:chOff x="6495947" y="3258249"/>
            <a:chExt cx="10511724" cy="1694578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E451B875-D1CD-4211-B740-2EBF8E39E5FC}"/>
                </a:ext>
              </a:extLst>
            </p:cNvPr>
            <p:cNvSpPr txBox="1"/>
            <p:nvPr/>
          </p:nvSpPr>
          <p:spPr>
            <a:xfrm>
              <a:off x="6495947" y="3258249"/>
              <a:ext cx="4812529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>
                <a:defRPr>
                  <a:solidFill>
                    <a:schemeClr val="tx1">
                      <a:lumMod val="85000"/>
                      <a:lumOff val="15000"/>
                    </a:schemeClr>
                  </a:solidFill>
                  <a:latin typeface="+mj-ea"/>
                  <a:ea typeface="+mj-ea"/>
                </a:defRPr>
              </a:lvl1pPr>
            </a:lstStyle>
            <a:p>
              <a:r>
                <a:rPr lang="en-US" altLang="ko-KR" sz="4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프리젠테이션 5 Medium" pitchFamily="2" charset="-127"/>
                  <a:ea typeface="프리젠테이션 5 Medium" pitchFamily="2" charset="-127"/>
                </a:rPr>
                <a:t>2. </a:t>
              </a:r>
              <a:r>
                <a:rPr lang="ko-KR" altLang="en-US" sz="4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프리젠테이션 5 Medium" pitchFamily="2" charset="-127"/>
                  <a:ea typeface="프리젠테이션 5 Medium" pitchFamily="2" charset="-127"/>
                </a:rPr>
                <a:t>데이터 전처리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C644609A-4056-406B-9A5A-CDEB017340FC}"/>
                </a:ext>
              </a:extLst>
            </p:cNvPr>
            <p:cNvSpPr txBox="1"/>
            <p:nvPr/>
          </p:nvSpPr>
          <p:spPr>
            <a:xfrm>
              <a:off x="6645541" y="4121830"/>
              <a:ext cx="10362130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ko-KR" altLang="en-US" sz="2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프리젠테이션 4 Regular" pitchFamily="2" charset="-127"/>
                  <a:ea typeface="프리젠테이션 4 Regular" pitchFamily="2" charset="-127"/>
                </a:rPr>
                <a:t>분석에 맞춰 데이터를 가공하여 잠재적 수요 실현의 최소치를 추정하는 새로운 대리변수를 생성</a:t>
              </a:r>
              <a:endParaRPr lang="en-US" altLang="ko-K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4 Regular" pitchFamily="2" charset="-127"/>
                <a:ea typeface="프리젠테이션 4 Regular" pitchFamily="2" charset="-127"/>
              </a:endParaRPr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ko-KR" altLang="en-US" sz="240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프리젠테이션 4 Regular" pitchFamily="2" charset="-127"/>
                  <a:ea typeface="프리젠테이션 4 Regular" pitchFamily="2" charset="-127"/>
                </a:rPr>
                <a:t>잠재적 수요 실현의 최소치 추정하는 </a:t>
              </a:r>
              <a:r>
                <a:rPr lang="ko-KR" altLang="en-US" sz="240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프리젠테이션 4 Regular" panose="020B0600000101010101" charset="-127"/>
                  <a:ea typeface="프리젠테이션 4 Regular" panose="020B0600000101010101" charset="-127"/>
                </a:rPr>
                <a:t>대리변수로</a:t>
              </a:r>
              <a:r>
                <a:rPr lang="ko-KR" altLang="en-US" sz="240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프리젠테이션 4 Regular" pitchFamily="2" charset="-127"/>
                  <a:ea typeface="프리젠테이션 4 Regular" pitchFamily="2" charset="-127"/>
                </a:rPr>
                <a:t> 관광객 실적을 활용</a:t>
              </a:r>
            </a:p>
          </p:txBody>
        </p:sp>
      </p:grpSp>
      <p:sp>
        <p:nvSpPr>
          <p:cNvPr id="28" name="타원 27">
            <a:extLst>
              <a:ext uri="{FF2B5EF4-FFF2-40B4-BE49-F238E27FC236}">
                <a16:creationId xmlns:a16="http://schemas.microsoft.com/office/drawing/2014/main" id="{0E899ED6-9C3E-4FDB-86DC-AE82B1F7EB8C}"/>
              </a:ext>
            </a:extLst>
          </p:cNvPr>
          <p:cNvSpPr/>
          <p:nvPr/>
        </p:nvSpPr>
        <p:spPr>
          <a:xfrm>
            <a:off x="1085850" y="5365602"/>
            <a:ext cx="2819400" cy="2700378"/>
          </a:xfrm>
          <a:prstGeom prst="ellipse">
            <a:avLst/>
          </a:prstGeom>
          <a:solidFill>
            <a:srgbClr val="838EA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4000" dirty="0">
                <a:latin typeface="프리젠테이션 6 SemiBold" pitchFamily="2" charset="-127"/>
                <a:ea typeface="프리젠테이션 6 SemiBold" pitchFamily="2" charset="-127"/>
              </a:rPr>
              <a:t>관광객 실적  </a:t>
            </a:r>
            <a:r>
              <a:rPr lang="ko-KR" altLang="en-US" sz="3200" dirty="0">
                <a:latin typeface="프리젠테이션 4 Regular" pitchFamily="2" charset="-127"/>
                <a:ea typeface="프리젠테이션 4 Regular" pitchFamily="2" charset="-127"/>
              </a:rPr>
              <a:t>추출과정</a:t>
            </a: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044ACAD0-FA83-74B2-C0BC-75D9DBF653C8}"/>
              </a:ext>
            </a:extLst>
          </p:cNvPr>
          <p:cNvGrpSpPr/>
          <p:nvPr/>
        </p:nvGrpSpPr>
        <p:grpSpPr>
          <a:xfrm>
            <a:off x="10973105" y="6733899"/>
            <a:ext cx="7735531" cy="5650807"/>
            <a:chOff x="10972800" y="6998393"/>
            <a:chExt cx="7735531" cy="5650807"/>
          </a:xfrm>
        </p:grpSpPr>
        <p:cxnSp>
          <p:nvCxnSpPr>
            <p:cNvPr id="75" name="직선 연결선 74">
              <a:extLst>
                <a:ext uri="{FF2B5EF4-FFF2-40B4-BE49-F238E27FC236}">
                  <a16:creationId xmlns:a16="http://schemas.microsoft.com/office/drawing/2014/main" id="{549B73B1-86A8-4E30-8BA9-4C17A86E470F}"/>
                </a:ext>
              </a:extLst>
            </p:cNvPr>
            <p:cNvCxnSpPr/>
            <p:nvPr/>
          </p:nvCxnSpPr>
          <p:spPr>
            <a:xfrm flipH="1" flipV="1">
              <a:off x="10972800" y="6998393"/>
              <a:ext cx="3027" cy="5650807"/>
            </a:xfrm>
            <a:prstGeom prst="line">
              <a:avLst/>
            </a:prstGeom>
            <a:ln w="57150">
              <a:solidFill>
                <a:srgbClr val="838EA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29063C3D-C192-46FE-A9A3-888F518061C2}"/>
                </a:ext>
              </a:extLst>
            </p:cNvPr>
            <p:cNvSpPr txBox="1"/>
            <p:nvPr/>
          </p:nvSpPr>
          <p:spPr>
            <a:xfrm>
              <a:off x="11367020" y="7952240"/>
              <a:ext cx="7341311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4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프리젠테이션 5 Medium" pitchFamily="2" charset="-127"/>
                  <a:ea typeface="프리젠테이션 5 Medium" pitchFamily="2" charset="-127"/>
                </a:rPr>
                <a:t>3. ‘</a:t>
              </a:r>
              <a:r>
                <a:rPr lang="ko-KR" altLang="en-US" sz="4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프리젠테이션 5 Medium" pitchFamily="2" charset="-127"/>
                  <a:ea typeface="프리젠테이션 5 Medium" pitchFamily="2" charset="-127"/>
                </a:rPr>
                <a:t>관광객 실적</a:t>
              </a:r>
              <a:r>
                <a:rPr lang="en-US" altLang="ko-KR" sz="4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프리젠테이션 5 Medium" pitchFamily="2" charset="-127"/>
                  <a:ea typeface="프리젠테이션 5 Medium" pitchFamily="2" charset="-127"/>
                </a:rPr>
                <a:t>’</a:t>
              </a:r>
              <a:r>
                <a:rPr lang="ko-KR" altLang="en-US" sz="4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프리젠테이션 5 Medium" pitchFamily="2" charset="-127"/>
                  <a:ea typeface="프리젠테이션 5 Medium" pitchFamily="2" charset="-127"/>
                </a:rPr>
                <a:t>의 의미와 활용</a:t>
              </a:r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59F17B54-5C8F-444C-A129-7BE6A3427F93}"/>
                </a:ext>
              </a:extLst>
            </p:cNvPr>
            <p:cNvSpPr txBox="1"/>
            <p:nvPr/>
          </p:nvSpPr>
          <p:spPr>
            <a:xfrm>
              <a:off x="11621267" y="8744358"/>
              <a:ext cx="4204997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3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프리젠테이션 4 Regular" pitchFamily="2" charset="-127"/>
                  <a:ea typeface="프리젠테이션 4 Regular" pitchFamily="2" charset="-127"/>
                </a:rPr>
                <a:t>대리변수</a:t>
              </a:r>
              <a:r>
                <a:rPr lang="en-US" altLang="ko-KR" sz="3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프리젠테이션 4 Regular" pitchFamily="2" charset="-127"/>
                  <a:ea typeface="프리젠테이션 4 Regular" pitchFamily="2" charset="-127"/>
                </a:rPr>
                <a:t>(Proxy Variable)</a:t>
              </a:r>
              <a:endParaRPr lang="ko-KR" altLang="en-US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4 Regular" pitchFamily="2" charset="-127"/>
                <a:ea typeface="프리젠테이션 4 Regular" pitchFamily="2" charset="-127"/>
              </a:endParaRPr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C644609A-4056-406B-9A5A-CDEB017340FC}"/>
                </a:ext>
              </a:extLst>
            </p:cNvPr>
            <p:cNvSpPr txBox="1"/>
            <p:nvPr/>
          </p:nvSpPr>
          <p:spPr>
            <a:xfrm>
              <a:off x="11739277" y="9347122"/>
              <a:ext cx="6514352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ko-KR" altLang="en-US" sz="2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프리젠테이션 4 Regular" pitchFamily="2" charset="-127"/>
                  <a:ea typeface="프리젠테이션 4 Regular" pitchFamily="2" charset="-127"/>
                </a:rPr>
                <a:t>해당 지역의 관광 인프라</a:t>
              </a:r>
              <a:r>
                <a:rPr lang="en-US" altLang="ko-KR" sz="2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프리젠테이션 4 Regular" pitchFamily="2" charset="-127"/>
                  <a:ea typeface="프리젠테이션 4 Regular" pitchFamily="2" charset="-127"/>
                </a:rPr>
                <a:t>(</a:t>
              </a:r>
              <a:r>
                <a:rPr lang="ko-KR" altLang="en-US" sz="2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프리젠테이션 4 Regular" pitchFamily="2" charset="-127"/>
                  <a:ea typeface="프리젠테이션 4 Regular" pitchFamily="2" charset="-127"/>
                </a:rPr>
                <a:t>측정 가능한 지점</a:t>
              </a:r>
              <a:r>
                <a:rPr lang="en-US" altLang="ko-KR" sz="2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프리젠테이션 4 Regular" pitchFamily="2" charset="-127"/>
                  <a:ea typeface="프리젠테이션 4 Regular" pitchFamily="2" charset="-127"/>
                </a:rPr>
                <a:t>) </a:t>
              </a:r>
              <a:r>
                <a:rPr lang="ko-KR" altLang="en-US" sz="2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프리젠테이션 4 Regular" pitchFamily="2" charset="-127"/>
                  <a:ea typeface="프리젠테이션 4 Regular" pitchFamily="2" charset="-127"/>
                </a:rPr>
                <a:t>대비 실제로 얼마나 효율적으로 수요를 유치했는지를 나타내는 최소 실현 수준</a:t>
              </a:r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59F17B54-5C8F-444C-A129-7BE6A3427F93}"/>
                </a:ext>
              </a:extLst>
            </p:cNvPr>
            <p:cNvSpPr txBox="1"/>
            <p:nvPr/>
          </p:nvSpPr>
          <p:spPr>
            <a:xfrm>
              <a:off x="11621267" y="10638055"/>
              <a:ext cx="5077371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3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프리젠테이션 4 Regular" pitchFamily="2" charset="-127"/>
                  <a:ea typeface="프리젠테이션 4 Regular" pitchFamily="2" charset="-127"/>
                </a:rPr>
                <a:t>분석 목표 명확화</a:t>
              </a:r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C644609A-4056-406B-9A5A-CDEB017340FC}"/>
                </a:ext>
              </a:extLst>
            </p:cNvPr>
            <p:cNvSpPr txBox="1"/>
            <p:nvPr/>
          </p:nvSpPr>
          <p:spPr>
            <a:xfrm>
              <a:off x="11739278" y="11240819"/>
              <a:ext cx="6514176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ko-KR" altLang="en-US" sz="2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프리젠테이션 4 Regular" pitchFamily="2" charset="-127"/>
                  <a:ea typeface="프리젠테이션 4 Regular" pitchFamily="2" charset="-127"/>
                </a:rPr>
                <a:t>단순히 양적 총량이 많은 지역이 아닌 통제된 인프라를 기준으로 가장 효율적인 관광 수요 실현을 달성하는 지역을 선발하는데 활용</a:t>
              </a:r>
            </a:p>
          </p:txBody>
        </p:sp>
      </p:grpSp>
      <p:grpSp>
        <p:nvGrpSpPr>
          <p:cNvPr id="5" name="그룹 4">
            <a:extLst>
              <a:ext uri="{FF2B5EF4-FFF2-40B4-BE49-F238E27FC236}">
                <a16:creationId xmlns:a16="http://schemas.microsoft.com/office/drawing/2014/main" id="{83C66E05-CCFC-E1EF-010E-811EE25F1C6E}"/>
              </a:ext>
            </a:extLst>
          </p:cNvPr>
          <p:cNvGrpSpPr/>
          <p:nvPr/>
        </p:nvGrpSpPr>
        <p:grpSpPr>
          <a:xfrm>
            <a:off x="4569797" y="6743233"/>
            <a:ext cx="6107590" cy="5601167"/>
            <a:chOff x="4179410" y="6725693"/>
            <a:chExt cx="6107590" cy="5601167"/>
          </a:xfrm>
        </p:grpSpPr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549B73B1-86A8-4E30-8BA9-4C17A86E470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179410" y="6725693"/>
              <a:ext cx="0" cy="5601167"/>
            </a:xfrm>
            <a:prstGeom prst="line">
              <a:avLst/>
            </a:prstGeom>
            <a:ln w="57150">
              <a:solidFill>
                <a:srgbClr val="838EA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29063C3D-C192-46FE-A9A3-888F518061C2}"/>
                </a:ext>
              </a:extLst>
            </p:cNvPr>
            <p:cNvSpPr txBox="1"/>
            <p:nvPr/>
          </p:nvSpPr>
          <p:spPr>
            <a:xfrm>
              <a:off x="4464360" y="7695319"/>
              <a:ext cx="5356362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4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프리젠테이션 5 Medium" pitchFamily="2" charset="-127"/>
                  <a:ea typeface="프리젠테이션 5 Medium" pitchFamily="2" charset="-127"/>
                </a:rPr>
                <a:t>1. </a:t>
              </a:r>
              <a:r>
                <a:rPr lang="ko-KR" altLang="en-US" sz="4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프리젠테이션 5 Medium" pitchFamily="2" charset="-127"/>
                  <a:ea typeface="프리젠테이션 5 Medium" pitchFamily="2" charset="-127"/>
                </a:rPr>
                <a:t>데이터 선정 및 필요성</a:t>
              </a:r>
            </a:p>
          </p:txBody>
        </p: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59F17B54-5C8F-444C-A129-7BE6A3427F93}"/>
                </a:ext>
              </a:extLst>
            </p:cNvPr>
            <p:cNvSpPr txBox="1"/>
            <p:nvPr/>
          </p:nvSpPr>
          <p:spPr>
            <a:xfrm>
              <a:off x="4613987" y="8445429"/>
              <a:ext cx="1798890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3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프리젠테이션 4 Regular" pitchFamily="2" charset="-127"/>
                  <a:ea typeface="프리젠테이션 4 Regular" pitchFamily="2" charset="-127"/>
                </a:rPr>
                <a:t>객관성 확보</a:t>
              </a:r>
            </a:p>
          </p:txBody>
        </p: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C644609A-4056-406B-9A5A-CDEB017340FC}"/>
                </a:ext>
              </a:extLst>
            </p:cNvPr>
            <p:cNvSpPr txBox="1"/>
            <p:nvPr/>
          </p:nvSpPr>
          <p:spPr>
            <a:xfrm>
              <a:off x="4553723" y="9047099"/>
              <a:ext cx="5733277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ko-KR" altLang="en-US" sz="2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프리젠테이션 4 Regular" pitchFamily="2" charset="-127"/>
                  <a:ea typeface="프리젠테이션 4 Regular" pitchFamily="2" charset="-127"/>
                </a:rPr>
                <a:t>지역별로 측정 및 통제 가능한 주요 관광지 수가 상이하여 총량 비교 시 객관성 확보가 어려움</a:t>
              </a:r>
            </a:p>
          </p:txBody>
        </p: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59F17B54-5C8F-444C-A129-7BE6A3427F93}"/>
                </a:ext>
              </a:extLst>
            </p:cNvPr>
            <p:cNvSpPr txBox="1"/>
            <p:nvPr/>
          </p:nvSpPr>
          <p:spPr>
            <a:xfrm>
              <a:off x="4610813" y="10096519"/>
              <a:ext cx="2182008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3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프리젠테이션 4 Regular" pitchFamily="2" charset="-127"/>
                  <a:ea typeface="프리젠테이션 4 Regular" pitchFamily="2" charset="-127"/>
                </a:rPr>
                <a:t>비교 기준 설정</a:t>
              </a:r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C644609A-4056-406B-9A5A-CDEB017340FC}"/>
                </a:ext>
              </a:extLst>
            </p:cNvPr>
            <p:cNvSpPr txBox="1"/>
            <p:nvPr/>
          </p:nvSpPr>
          <p:spPr>
            <a:xfrm>
              <a:off x="4574065" y="10737672"/>
              <a:ext cx="5203853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ko-KR" altLang="en-US" sz="2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프리젠테이션 4 Regular" pitchFamily="2" charset="-127"/>
                  <a:ea typeface="프리젠테이션 4 Regular" pitchFamily="2" charset="-127"/>
                </a:rPr>
                <a:t>전체 관광객 수 대신 평균 실적을 사용해야 각 지역의 관광 잠재력 대비 수요 실현 수준을 공정하게 비교 가능</a:t>
              </a:r>
            </a:p>
          </p:txBody>
        </p:sp>
      </p:grpSp>
      <p:cxnSp>
        <p:nvCxnSpPr>
          <p:cNvPr id="130" name="직선 연결선 129">
            <a:extLst>
              <a:ext uri="{FF2B5EF4-FFF2-40B4-BE49-F238E27FC236}">
                <a16:creationId xmlns:a16="http://schemas.microsoft.com/office/drawing/2014/main" id="{FFEFF856-CE60-4F2B-9E8E-6C7092E83DCA}"/>
              </a:ext>
            </a:extLst>
          </p:cNvPr>
          <p:cNvCxnSpPr/>
          <p:nvPr/>
        </p:nvCxnSpPr>
        <p:spPr>
          <a:xfrm>
            <a:off x="24231600" y="5761041"/>
            <a:ext cx="0" cy="0"/>
          </a:xfrm>
          <a:prstGeom prst="line">
            <a:avLst/>
          </a:prstGeom>
          <a:ln w="571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9" name="그림 58">
            <a:extLst>
              <a:ext uri="{FF2B5EF4-FFF2-40B4-BE49-F238E27FC236}">
                <a16:creationId xmlns:a16="http://schemas.microsoft.com/office/drawing/2014/main" id="{C30C1A53-F37C-430F-8AE8-C151D63C014B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b="4130"/>
          <a:stretch/>
        </p:blipFill>
        <p:spPr>
          <a:xfrm>
            <a:off x="18436315" y="4758700"/>
            <a:ext cx="5366129" cy="3704269"/>
          </a:xfrm>
          <a:prstGeom prst="roundRect">
            <a:avLst/>
          </a:prstGeom>
          <a:ln w="57150">
            <a:solidFill>
              <a:srgbClr val="1F497D"/>
            </a:solidFill>
          </a:ln>
        </p:spPr>
      </p:pic>
      <p:sp>
        <p:nvSpPr>
          <p:cNvPr id="74" name="TextBox 7">
            <a:extLst>
              <a:ext uri="{FF2B5EF4-FFF2-40B4-BE49-F238E27FC236}">
                <a16:creationId xmlns:a16="http://schemas.microsoft.com/office/drawing/2014/main" id="{AE8B9175-9084-45B8-B649-AA925FE9D10D}"/>
              </a:ext>
            </a:extLst>
          </p:cNvPr>
          <p:cNvSpPr txBox="1"/>
          <p:nvPr/>
        </p:nvSpPr>
        <p:spPr>
          <a:xfrm>
            <a:off x="19680982" y="8502037"/>
            <a:ext cx="4121462" cy="660750"/>
          </a:xfrm>
          <a:prstGeom prst="rect">
            <a:avLst/>
          </a:prstGeom>
        </p:spPr>
        <p:txBody>
          <a:bodyPr lIns="0" tIns="167301" rIns="0" bIns="0" rtlCol="0" anchor="t"/>
          <a:lstStyle/>
          <a:p>
            <a:pPr lvl="0" algn="l">
              <a:lnSpc>
                <a:spcPct val="94619"/>
              </a:lnSpc>
            </a:pPr>
            <a:r>
              <a:rPr lang="ko-KR" altLang="en-US" sz="2000" dirty="0">
                <a:solidFill>
                  <a:srgbClr val="7F8690"/>
                </a:solidFill>
                <a:latin typeface="프리젠테이션 4 Regular" charset="-127"/>
                <a:ea typeface="프리젠테이션 4 Regular" charset="-127"/>
              </a:rPr>
              <a:t>▲ 시도별 관광 실적 워드 클라우드</a:t>
            </a:r>
            <a:endParaRPr lang="en-US" altLang="ko-KR" sz="2000" dirty="0">
              <a:solidFill>
                <a:srgbClr val="7F8690"/>
              </a:solidFill>
              <a:latin typeface="프리젠테이션 4 Regular" charset="-127"/>
              <a:ea typeface="프리젠테이션 4 Regular" charset="-127"/>
            </a:endParaRPr>
          </a:p>
        </p:txBody>
      </p:sp>
      <p:sp>
        <p:nvSpPr>
          <p:cNvPr id="60" name="사각형: 둥근 모서리 59">
            <a:extLst>
              <a:ext uri="{FF2B5EF4-FFF2-40B4-BE49-F238E27FC236}">
                <a16:creationId xmlns:a16="http://schemas.microsoft.com/office/drawing/2014/main" id="{B21596A6-CEBE-43B1-97CB-7B20EE3BF13A}"/>
              </a:ext>
            </a:extLst>
          </p:cNvPr>
          <p:cNvSpPr/>
          <p:nvPr/>
        </p:nvSpPr>
        <p:spPr>
          <a:xfrm>
            <a:off x="7036747" y="5802627"/>
            <a:ext cx="8291636" cy="1666696"/>
          </a:xfrm>
          <a:prstGeom prst="roundRect">
            <a:avLst>
              <a:gd name="adj" fmla="val 21123"/>
            </a:avLst>
          </a:prstGeom>
          <a:solidFill>
            <a:srgbClr val="34425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86" name="그룹 85">
            <a:extLst>
              <a:ext uri="{FF2B5EF4-FFF2-40B4-BE49-F238E27FC236}">
                <a16:creationId xmlns:a16="http://schemas.microsoft.com/office/drawing/2014/main" id="{8519839F-996F-4853-9598-8886E7E9CC06}"/>
              </a:ext>
            </a:extLst>
          </p:cNvPr>
          <p:cNvGrpSpPr/>
          <p:nvPr/>
        </p:nvGrpSpPr>
        <p:grpSpPr>
          <a:xfrm>
            <a:off x="7143629" y="6035940"/>
            <a:ext cx="8291636" cy="1324278"/>
            <a:chOff x="21963898" y="6280560"/>
            <a:chExt cx="6843836" cy="1324278"/>
          </a:xfrm>
        </p:grpSpPr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DF218616-C56E-44A5-96A2-96E31E102028}"/>
                </a:ext>
              </a:extLst>
            </p:cNvPr>
            <p:cNvSpPr txBox="1"/>
            <p:nvPr/>
          </p:nvSpPr>
          <p:spPr>
            <a:xfrm>
              <a:off x="21963898" y="6280560"/>
              <a:ext cx="684383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3600" dirty="0">
                  <a:solidFill>
                    <a:schemeClr val="bg1"/>
                  </a:solidFill>
                  <a:latin typeface="프리젠테이션 6 SemiBold" pitchFamily="2" charset="-127"/>
                  <a:ea typeface="프리젠테이션 6 SemiBold" pitchFamily="2" charset="-127"/>
                </a:rPr>
                <a:t>지역별 주요 관광지 입장 고객 수 </a:t>
              </a:r>
              <a:r>
                <a:rPr lang="en-US" altLang="ko-KR" sz="2800" dirty="0">
                  <a:solidFill>
                    <a:schemeClr val="bg1"/>
                  </a:solidFill>
                  <a:latin typeface="프리젠테이션 6 SemiBold" pitchFamily="2" charset="-127"/>
                  <a:ea typeface="프리젠테이션 6 SemiBold" pitchFamily="2" charset="-127"/>
                </a:rPr>
                <a:t>(</a:t>
              </a:r>
              <a:r>
                <a:rPr lang="ko-KR" altLang="en-US" sz="2800" dirty="0">
                  <a:solidFill>
                    <a:schemeClr val="bg1"/>
                  </a:solidFill>
                  <a:latin typeface="프리젠테이션 6 SemiBold" pitchFamily="2" charset="-127"/>
                  <a:ea typeface="프리젠테이션 6 SemiBold" pitchFamily="2" charset="-127"/>
                </a:rPr>
                <a:t>내국인 총계 기준</a:t>
              </a:r>
              <a:r>
                <a:rPr lang="en-US" altLang="ko-KR" sz="2800" dirty="0">
                  <a:solidFill>
                    <a:schemeClr val="bg1"/>
                  </a:solidFill>
                  <a:latin typeface="프리젠테이션 6 SemiBold" pitchFamily="2" charset="-127"/>
                  <a:ea typeface="프리젠테이션 6 SemiBold" pitchFamily="2" charset="-127"/>
                </a:rPr>
                <a:t>)</a:t>
              </a:r>
            </a:p>
          </p:txBody>
        </p: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A0670948-A3AC-4CC4-A757-D73BCD5554F5}"/>
                </a:ext>
              </a:extLst>
            </p:cNvPr>
            <p:cNvSpPr txBox="1"/>
            <p:nvPr/>
          </p:nvSpPr>
          <p:spPr>
            <a:xfrm>
              <a:off x="24216958" y="6958507"/>
              <a:ext cx="283886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3600" dirty="0">
                  <a:solidFill>
                    <a:schemeClr val="bg1"/>
                  </a:solidFill>
                  <a:latin typeface="프리젠테이션 6 SemiBold" pitchFamily="2" charset="-127"/>
                  <a:ea typeface="프리젠테이션 6 SemiBold" pitchFamily="2" charset="-127"/>
                </a:rPr>
                <a:t>지역별 관광지 수 </a:t>
              </a:r>
              <a:endParaRPr lang="en-US" altLang="ko-KR" sz="3600" dirty="0">
                <a:solidFill>
                  <a:schemeClr val="bg1"/>
                </a:solidFill>
                <a:latin typeface="프리젠테이션 6 SemiBold" pitchFamily="2" charset="-127"/>
                <a:ea typeface="프리젠테이션 6 SemiBold" pitchFamily="2" charset="-127"/>
              </a:endParaRPr>
            </a:p>
          </p:txBody>
        </p:sp>
        <p:cxnSp>
          <p:nvCxnSpPr>
            <p:cNvPr id="93" name="직선 연결선 92">
              <a:extLst>
                <a:ext uri="{FF2B5EF4-FFF2-40B4-BE49-F238E27FC236}">
                  <a16:creationId xmlns:a16="http://schemas.microsoft.com/office/drawing/2014/main" id="{A435185B-FE82-4624-91E7-1165A886717A}"/>
                </a:ext>
              </a:extLst>
            </p:cNvPr>
            <p:cNvCxnSpPr>
              <a:cxnSpLocks/>
            </p:cNvCxnSpPr>
            <p:nvPr/>
          </p:nvCxnSpPr>
          <p:spPr>
            <a:xfrm>
              <a:off x="22285222" y="6930107"/>
              <a:ext cx="6160501" cy="5927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9243B36D-B732-5BB2-679F-7C6CA111BD20}"/>
              </a:ext>
            </a:extLst>
          </p:cNvPr>
          <p:cNvGrpSpPr/>
          <p:nvPr/>
        </p:nvGrpSpPr>
        <p:grpSpPr>
          <a:xfrm>
            <a:off x="17807872" y="6165908"/>
            <a:ext cx="403928" cy="1117707"/>
            <a:chOff x="18205986" y="6186968"/>
            <a:chExt cx="403928" cy="1117707"/>
          </a:xfrm>
        </p:grpSpPr>
        <p:cxnSp>
          <p:nvCxnSpPr>
            <p:cNvPr id="95" name="직선 연결선 94">
              <a:extLst>
                <a:ext uri="{FF2B5EF4-FFF2-40B4-BE49-F238E27FC236}">
                  <a16:creationId xmlns:a16="http://schemas.microsoft.com/office/drawing/2014/main" id="{D6828D5E-F4A2-4623-91A4-4D3F7E73E20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212854" y="6748995"/>
              <a:ext cx="397060" cy="555680"/>
            </a:xfrm>
            <a:prstGeom prst="line">
              <a:avLst/>
            </a:prstGeom>
            <a:ln w="762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직선 연결선 95">
              <a:extLst>
                <a:ext uri="{FF2B5EF4-FFF2-40B4-BE49-F238E27FC236}">
                  <a16:creationId xmlns:a16="http://schemas.microsoft.com/office/drawing/2014/main" id="{8AA0FDF1-8D7F-4CAC-8831-74897C0D1CD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8205986" y="6186968"/>
              <a:ext cx="403928" cy="546931"/>
            </a:xfrm>
            <a:prstGeom prst="line">
              <a:avLst/>
            </a:prstGeom>
            <a:ln w="762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extBox 33">
            <a:extLst>
              <a:ext uri="{FF2B5EF4-FFF2-40B4-BE49-F238E27FC236}">
                <a16:creationId xmlns:a16="http://schemas.microsoft.com/office/drawing/2014/main" id="{C02D24E8-B81E-F20D-3FD6-CC037A150F98}"/>
              </a:ext>
            </a:extLst>
          </p:cNvPr>
          <p:cNvSpPr txBox="1"/>
          <p:nvPr/>
        </p:nvSpPr>
        <p:spPr>
          <a:xfrm>
            <a:off x="1092200" y="1193800"/>
            <a:ext cx="4114800" cy="7112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16199"/>
              </a:lnSpc>
            </a:pPr>
            <a:r>
              <a:rPr lang="en-US" altLang="ko-KR" sz="4000" b="0" i="0" u="none" strike="noStrike" dirty="0">
                <a:solidFill>
                  <a:srgbClr val="000000"/>
                </a:solidFill>
                <a:latin typeface="프리젠테이션 6 SemiBold" pitchFamily="2" charset="-127"/>
                <a:ea typeface="프리젠테이션 6 SemiBold" pitchFamily="2" charset="-127"/>
              </a:rPr>
              <a:t>2. </a:t>
            </a:r>
            <a:r>
              <a:rPr lang="ko-KR" altLang="en-US" sz="4000" b="0" i="0" u="none" strike="noStrike" dirty="0">
                <a:solidFill>
                  <a:srgbClr val="000000"/>
                </a:solidFill>
                <a:latin typeface="프리젠테이션 6 SemiBold" pitchFamily="2" charset="-127"/>
                <a:ea typeface="프리젠테이션 6 SemiBold" pitchFamily="2" charset="-127"/>
              </a:rPr>
              <a:t>데이터 분석</a:t>
            </a:r>
            <a:endParaRPr lang="en" sz="4000" b="0" i="0" u="none" strike="noStrike" dirty="0">
              <a:solidFill>
                <a:srgbClr val="000000"/>
              </a:solidFill>
              <a:latin typeface="프리젠테이션 6 SemiBold" pitchFamily="2" charset="-127"/>
              <a:ea typeface="프리젠테이션 6 SemiBold" pitchFamily="2" charset="-127"/>
            </a:endParaRPr>
          </a:p>
        </p:txBody>
      </p:sp>
      <p:pic>
        <p:nvPicPr>
          <p:cNvPr id="23" name="그림 22">
            <a:extLst>
              <a:ext uri="{FF2B5EF4-FFF2-40B4-BE49-F238E27FC236}">
                <a16:creationId xmlns:a16="http://schemas.microsoft.com/office/drawing/2014/main" id="{2EEFD264-3059-43A4-A64D-C0742A74B4C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312926" y="3957996"/>
            <a:ext cx="5673851" cy="6618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3825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0C1F9E-C175-DFA5-8938-4FFCF109D9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>
            <a:extLst>
              <a:ext uri="{FF2B5EF4-FFF2-40B4-BE49-F238E27FC236}">
                <a16:creationId xmlns:a16="http://schemas.microsoft.com/office/drawing/2014/main" id="{0500F19C-F1BE-0A4C-7A22-1A8BC7DE0FFD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-50800" y="13373100"/>
            <a:ext cx="24765000" cy="355600"/>
          </a:xfrm>
          <a:prstGeom prst="rect">
            <a:avLst/>
          </a:prstGeom>
        </p:spPr>
      </p:pic>
      <p:grpSp>
        <p:nvGrpSpPr>
          <p:cNvPr id="18" name="그룹 17">
            <a:extLst>
              <a:ext uri="{FF2B5EF4-FFF2-40B4-BE49-F238E27FC236}">
                <a16:creationId xmlns:a16="http://schemas.microsoft.com/office/drawing/2014/main" id="{13FEE6BE-11D3-4A5F-9199-083289957CF8}"/>
              </a:ext>
            </a:extLst>
          </p:cNvPr>
          <p:cNvGrpSpPr/>
          <p:nvPr/>
        </p:nvGrpSpPr>
        <p:grpSpPr>
          <a:xfrm>
            <a:off x="1978503" y="8404986"/>
            <a:ext cx="7487648" cy="4692209"/>
            <a:chOff x="14610733" y="1811407"/>
            <a:chExt cx="6029082" cy="6152820"/>
          </a:xfrm>
        </p:grpSpPr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6776E741-BEC7-48D1-9327-AE495792AC4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4610733" y="1811407"/>
              <a:ext cx="5375221" cy="5096251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C7E7A6EB-A4AB-49F9-B1AB-78713DA214A9}"/>
                </a:ext>
              </a:extLst>
            </p:cNvPr>
            <p:cNvSpPr txBox="1"/>
            <p:nvPr/>
          </p:nvSpPr>
          <p:spPr>
            <a:xfrm>
              <a:off x="14610733" y="7035987"/>
              <a:ext cx="6029082" cy="92824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2000" b="0" dirty="0">
                  <a:solidFill>
                    <a:srgbClr val="7F8690"/>
                  </a:solidFill>
                  <a:effectLst/>
                  <a:latin typeface="프리젠테이션 4 Regular" charset="-127"/>
                  <a:ea typeface="프리젠테이션 4 Regular" charset="-127"/>
                </a:rPr>
                <a:t>* JNI </a:t>
              </a:r>
              <a:r>
                <a:rPr lang="ko-KR" altLang="en-US" sz="2000" b="0" dirty="0" err="1">
                  <a:solidFill>
                    <a:srgbClr val="7F8690"/>
                  </a:solidFill>
                  <a:effectLst/>
                  <a:latin typeface="프리젠테이션 4 Regular" charset="-127"/>
                  <a:ea typeface="프리젠테이션 4 Regular" charset="-127"/>
                </a:rPr>
                <a:t>인포그래픽</a:t>
              </a:r>
              <a:r>
                <a:rPr lang="en-US" altLang="ko-KR" sz="2000" b="0" dirty="0">
                  <a:solidFill>
                    <a:srgbClr val="7F8690"/>
                  </a:solidFill>
                  <a:effectLst/>
                  <a:latin typeface="프리젠테이션 4 Regular" charset="-127"/>
                  <a:ea typeface="프리젠테이션 4 Regular" charset="-127"/>
                </a:rPr>
                <a:t>, [2024</a:t>
              </a:r>
              <a:r>
                <a:rPr lang="ko-KR" altLang="en-US" sz="2000" b="0" dirty="0">
                  <a:solidFill>
                    <a:srgbClr val="7F8690"/>
                  </a:solidFill>
                  <a:effectLst/>
                  <a:latin typeface="프리젠테이션 4 Regular" charset="-127"/>
                  <a:ea typeface="프리젠테이션 4 Regular" charset="-127"/>
                </a:rPr>
                <a:t>년</a:t>
              </a:r>
              <a:r>
                <a:rPr lang="en-US" altLang="ko-KR" sz="2000" b="0" dirty="0">
                  <a:solidFill>
                    <a:srgbClr val="7F8690"/>
                  </a:solidFill>
                  <a:effectLst/>
                  <a:latin typeface="프리젠테이션 4 Regular" charset="-127"/>
                  <a:ea typeface="프리젠테이션 4 Regular" charset="-127"/>
                </a:rPr>
                <a:t>] </a:t>
              </a:r>
              <a:r>
                <a:rPr lang="ko-KR" altLang="en-US" sz="2000" b="0" dirty="0">
                  <a:solidFill>
                    <a:srgbClr val="7F8690"/>
                  </a:solidFill>
                  <a:effectLst/>
                  <a:latin typeface="프리젠테이션 4 Regular" charset="-127"/>
                  <a:ea typeface="프리젠테이션 4 Regular" charset="-127"/>
                </a:rPr>
                <a:t>제 </a:t>
              </a:r>
              <a:r>
                <a:rPr lang="en-US" altLang="ko-KR" sz="2000" b="0" dirty="0">
                  <a:solidFill>
                    <a:srgbClr val="7F8690"/>
                  </a:solidFill>
                  <a:effectLst/>
                  <a:latin typeface="프리젠테이션 4 Regular" charset="-127"/>
                  <a:ea typeface="프리젠테이션 4 Regular" charset="-127"/>
                </a:rPr>
                <a:t>2</a:t>
              </a:r>
              <a:r>
                <a:rPr lang="ko-KR" altLang="en-US" sz="2000" b="0" dirty="0">
                  <a:solidFill>
                    <a:srgbClr val="7F8690"/>
                  </a:solidFill>
                  <a:effectLst/>
                  <a:latin typeface="프리젠테이션 4 Regular" charset="-127"/>
                  <a:ea typeface="프리젠테이션 4 Regular" charset="-127"/>
                </a:rPr>
                <a:t>호 전남도민</a:t>
              </a:r>
              <a:r>
                <a:rPr lang="en-US" altLang="ko-KR" sz="2000" b="0" dirty="0">
                  <a:solidFill>
                    <a:srgbClr val="7F8690"/>
                  </a:solidFill>
                  <a:effectLst/>
                  <a:latin typeface="프리젠테이션 4 Regular" charset="-127"/>
                  <a:ea typeface="프리젠테이션 4 Regular" charset="-127"/>
                </a:rPr>
                <a:t>, </a:t>
              </a:r>
              <a:r>
                <a:rPr lang="ko-KR" altLang="en-US" sz="2000" b="0" dirty="0">
                  <a:solidFill>
                    <a:srgbClr val="7F8690"/>
                  </a:solidFill>
                  <a:effectLst/>
                  <a:latin typeface="프리젠테이션 4 Regular" charset="-127"/>
                  <a:ea typeface="프리젠테이션 4 Regular" charset="-127"/>
                </a:rPr>
                <a:t>어떻게 다닐까요</a:t>
              </a:r>
              <a:r>
                <a:rPr lang="en-US" altLang="ko-KR" sz="2000" dirty="0">
                  <a:solidFill>
                    <a:srgbClr val="7F8690"/>
                  </a:solidFill>
                  <a:latin typeface="프리젠테이션 4 Regular" charset="-127"/>
                  <a:ea typeface="프리젠테이션 4 Regular" charset="-127"/>
                </a:rPr>
                <a:t>?</a:t>
              </a:r>
            </a:p>
            <a:p>
              <a:r>
                <a:rPr lang="en-US" altLang="ko-KR" sz="2000" b="0" dirty="0">
                  <a:solidFill>
                    <a:srgbClr val="7F8690"/>
                  </a:solidFill>
                  <a:effectLst/>
                  <a:latin typeface="프리젠테이션 4 Regular" charset="-127"/>
                  <a:ea typeface="프리젠테이션 4 Regular" charset="-127"/>
                </a:rPr>
                <a:t>** </a:t>
              </a:r>
              <a:r>
                <a:rPr lang="ko-KR" altLang="en-US" sz="2000" b="0" dirty="0">
                  <a:solidFill>
                    <a:srgbClr val="7F8690"/>
                  </a:solidFill>
                  <a:effectLst/>
                  <a:latin typeface="프리젠테이션 4 Regular" charset="-127"/>
                  <a:ea typeface="프리젠테이션 4 Regular" charset="-127"/>
                </a:rPr>
                <a:t>통행량</a:t>
              </a:r>
              <a:r>
                <a:rPr lang="en-US" altLang="ko-KR" sz="2000" dirty="0">
                  <a:solidFill>
                    <a:srgbClr val="7F8690"/>
                  </a:solidFill>
                  <a:latin typeface="프리젠테이션 4 Regular" charset="-127"/>
                  <a:ea typeface="프리젠테이션 4 Regular" charset="-127"/>
                </a:rPr>
                <a:t>:</a:t>
              </a:r>
              <a:r>
                <a:rPr lang="ko-KR" altLang="en-US" sz="2000" b="0" dirty="0">
                  <a:solidFill>
                    <a:srgbClr val="7F8690"/>
                  </a:solidFill>
                  <a:effectLst/>
                  <a:latin typeface="프리젠테이션 4 Regular" charset="-127"/>
                  <a:ea typeface="프리젠테이션 4 Regular" charset="-127"/>
                </a:rPr>
                <a:t> 출발지</a:t>
              </a:r>
              <a:r>
                <a:rPr lang="en-US" altLang="ko-KR" sz="2000" b="0" dirty="0">
                  <a:solidFill>
                    <a:srgbClr val="7F8690"/>
                  </a:solidFill>
                  <a:effectLst/>
                  <a:latin typeface="프리젠테이션 4 Regular" charset="-127"/>
                  <a:ea typeface="프리젠테이션 4 Regular" charset="-127"/>
                </a:rPr>
                <a:t>~</a:t>
              </a:r>
              <a:r>
                <a:rPr lang="ko-KR" altLang="en-US" sz="2000" b="0" dirty="0">
                  <a:solidFill>
                    <a:srgbClr val="7F8690"/>
                  </a:solidFill>
                  <a:effectLst/>
                  <a:latin typeface="프리젠테이션 4 Regular" charset="-127"/>
                  <a:ea typeface="프리젠테이션 4 Regular" charset="-127"/>
                </a:rPr>
                <a:t>도착지간 교통수단을 이용하거나 목적에 따라 이동한 행위를 의미</a:t>
              </a:r>
            </a:p>
          </p:txBody>
        </p:sp>
      </p:grpSp>
      <p:sp>
        <p:nvSpPr>
          <p:cNvPr id="19" name="TextBox 7">
            <a:extLst>
              <a:ext uri="{FF2B5EF4-FFF2-40B4-BE49-F238E27FC236}">
                <a16:creationId xmlns:a16="http://schemas.microsoft.com/office/drawing/2014/main" id="{8377AE68-41D2-4F7B-B0FA-CB8122D2DE08}"/>
              </a:ext>
            </a:extLst>
          </p:cNvPr>
          <p:cNvSpPr txBox="1"/>
          <p:nvPr/>
        </p:nvSpPr>
        <p:spPr>
          <a:xfrm>
            <a:off x="3498830" y="2679236"/>
            <a:ext cx="10945683" cy="1535851"/>
          </a:xfrm>
          <a:prstGeom prst="rect">
            <a:avLst/>
          </a:prstGeom>
        </p:spPr>
        <p:txBody>
          <a:bodyPr lIns="0" tIns="167301" rIns="0" bIns="0" rtlCol="0" anchor="t"/>
          <a:lstStyle/>
          <a:p>
            <a:pPr marL="457200" lvl="0" indent="-457200" algn="l">
              <a:lnSpc>
                <a:spcPct val="94619"/>
              </a:lnSpc>
              <a:buFont typeface="프리젠테이션 4 Regular" pitchFamily="2" charset="-127"/>
              <a:buChar char="–"/>
            </a:pPr>
            <a:r>
              <a:rPr lang="ko-KR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프리젠테이션 4 Regular" charset="-127"/>
                <a:ea typeface="프리젠테이션 4 Regular" charset="-127"/>
              </a:rPr>
              <a:t>부족한 교통 인프라가 관광객의 체험 시설 방문 자체를 방해할 가능성을 염두</a:t>
            </a:r>
            <a:endParaRPr lang="en-US" altLang="ko-KR" sz="2800" dirty="0">
              <a:solidFill>
                <a:schemeClr val="tx1">
                  <a:lumMod val="95000"/>
                  <a:lumOff val="5000"/>
                </a:schemeClr>
              </a:solidFill>
              <a:latin typeface="프리젠테이션 4 Regular" charset="-127"/>
              <a:ea typeface="프리젠테이션 4 Regular" charset="-127"/>
            </a:endParaRPr>
          </a:p>
          <a:p>
            <a:pPr marL="457200" lvl="0" indent="-457200" algn="l">
              <a:lnSpc>
                <a:spcPct val="94619"/>
              </a:lnSpc>
              <a:buFont typeface="프리젠테이션 4 Regular" pitchFamily="2" charset="-127"/>
              <a:buChar char="–"/>
            </a:pPr>
            <a:r>
              <a:rPr lang="ko-KR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프리젠테이션 4 Regular" charset="-127"/>
                <a:ea typeface="프리젠테이션 4 Regular" charset="-127"/>
              </a:rPr>
              <a:t>중위권인 인구수에 반하여 통행량은 </a:t>
            </a:r>
            <a:r>
              <a:rPr lang="en-US" altLang="ko-KR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프리젠테이션 4 Regular" charset="-127"/>
                <a:ea typeface="프리젠테이션 4 Regular" charset="-127"/>
              </a:rPr>
              <a:t>14</a:t>
            </a:r>
            <a:r>
              <a:rPr lang="ko-KR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프리젠테이션 4 Regular" charset="-127"/>
                <a:ea typeface="프리젠테이션 4 Regular" charset="-127"/>
              </a:rPr>
              <a:t>위이며</a:t>
            </a:r>
            <a:r>
              <a:rPr lang="en-US" altLang="ko-KR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프리젠테이션 4 Regular" charset="-127"/>
                <a:ea typeface="프리젠테이션 4 Regular" charset="-127"/>
              </a:rPr>
              <a:t>, 1</a:t>
            </a:r>
            <a:r>
              <a:rPr lang="ko-KR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프리젠테이션 4 Regular" charset="-127"/>
                <a:ea typeface="프리젠테이션 4 Regular" charset="-127"/>
              </a:rPr>
              <a:t>인당 통행량은 최하위</a:t>
            </a:r>
            <a:endParaRPr lang="en-US" altLang="ko-KR" sz="2800" dirty="0">
              <a:solidFill>
                <a:schemeClr val="tx1">
                  <a:lumMod val="95000"/>
                  <a:lumOff val="5000"/>
                </a:schemeClr>
              </a:solidFill>
              <a:latin typeface="프리젠테이션 4 Regular" charset="-127"/>
              <a:ea typeface="프리젠테이션 4 Regular" charset="-127"/>
            </a:endParaRPr>
          </a:p>
          <a:p>
            <a:pPr marL="457200" lvl="0" indent="-457200" algn="l">
              <a:lnSpc>
                <a:spcPct val="94619"/>
              </a:lnSpc>
              <a:buFont typeface="프리젠테이션 4 Regular" pitchFamily="2" charset="-127"/>
              <a:buChar char="–"/>
            </a:pPr>
            <a:r>
              <a:rPr lang="ko-KR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프리젠테이션 4 Regular" charset="-127"/>
                <a:ea typeface="프리젠테이션 4 Regular" charset="-127"/>
                <a:sym typeface="Wingdings" panose="05000000000000000000" pitchFamily="2" charset="2"/>
              </a:rPr>
              <a:t>전라남도는 빈약한 교통 인프라를 지니고 있어 관광객의 접근성이 떨어질 수 밖에 없다</a:t>
            </a:r>
            <a:r>
              <a:rPr lang="en-US" altLang="ko-KR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프리젠테이션 4 Regular" charset="-127"/>
                <a:ea typeface="프리젠테이션 4 Regular" charset="-127"/>
                <a:sym typeface="Wingdings" panose="05000000000000000000" pitchFamily="2" charset="2"/>
              </a:rPr>
              <a:t>.</a:t>
            </a:r>
            <a:endParaRPr lang="en-US" altLang="ko-KR" sz="2800" dirty="0">
              <a:solidFill>
                <a:schemeClr val="tx1">
                  <a:lumMod val="95000"/>
                  <a:lumOff val="5000"/>
                </a:schemeClr>
              </a:solidFill>
              <a:latin typeface="프리젠테이션 4 Regular" charset="-127"/>
              <a:ea typeface="프리젠테이션 4 Regular" charset="-127"/>
            </a:endParaRPr>
          </a:p>
        </p:txBody>
      </p:sp>
      <p:sp>
        <p:nvSpPr>
          <p:cNvPr id="21" name="TextBox 7">
            <a:extLst>
              <a:ext uri="{FF2B5EF4-FFF2-40B4-BE49-F238E27FC236}">
                <a16:creationId xmlns:a16="http://schemas.microsoft.com/office/drawing/2014/main" id="{7AF21213-6E4F-4A5D-82AA-DEA389C9FBB5}"/>
              </a:ext>
            </a:extLst>
          </p:cNvPr>
          <p:cNvSpPr txBox="1"/>
          <p:nvPr/>
        </p:nvSpPr>
        <p:spPr>
          <a:xfrm>
            <a:off x="15064861" y="2861054"/>
            <a:ext cx="7604447" cy="663103"/>
          </a:xfrm>
          <a:prstGeom prst="rect">
            <a:avLst/>
          </a:prstGeom>
        </p:spPr>
        <p:txBody>
          <a:bodyPr lIns="0" tIns="167301" rIns="0" bIns="0" rtlCol="0" anchor="t"/>
          <a:lstStyle/>
          <a:p>
            <a:pPr lvl="0" algn="l">
              <a:lnSpc>
                <a:spcPct val="94619"/>
              </a:lnSpc>
            </a:pPr>
            <a:r>
              <a:rPr lang="en-US" altLang="ko-KR" sz="4000" u="sng" dirty="0">
                <a:solidFill>
                  <a:schemeClr val="tx1">
                    <a:lumMod val="95000"/>
                    <a:lumOff val="5000"/>
                  </a:schemeClr>
                </a:solidFill>
                <a:latin typeface="프리젠테이션 5 Medium" pitchFamily="2" charset="-127"/>
                <a:ea typeface="프리젠테이션 5 Medium" pitchFamily="2" charset="-127"/>
              </a:rPr>
              <a:t>“</a:t>
            </a:r>
            <a:r>
              <a:rPr lang="ko-KR" altLang="en-US" sz="4000" u="sng" dirty="0">
                <a:solidFill>
                  <a:schemeClr val="tx1">
                    <a:lumMod val="95000"/>
                    <a:lumOff val="5000"/>
                  </a:schemeClr>
                </a:solidFill>
                <a:latin typeface="프리젠테이션 5 Medium" pitchFamily="2" charset="-127"/>
                <a:ea typeface="프리젠테이션 5 Medium" pitchFamily="2" charset="-127"/>
              </a:rPr>
              <a:t>교통 문제는 단기간에 해결하기 어려움</a:t>
            </a:r>
            <a:r>
              <a:rPr lang="en-US" altLang="ko-KR" sz="4000" u="sng" dirty="0">
                <a:solidFill>
                  <a:schemeClr val="tx1">
                    <a:lumMod val="95000"/>
                    <a:lumOff val="5000"/>
                  </a:schemeClr>
                </a:solidFill>
                <a:latin typeface="프리젠테이션 5 Medium" pitchFamily="2" charset="-127"/>
                <a:ea typeface="프리젠테이션 5 Medium" pitchFamily="2" charset="-127"/>
              </a:rPr>
              <a:t>”</a:t>
            </a: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93C9500A-2459-46B9-9028-A9D8355F42C3}"/>
              </a:ext>
            </a:extLst>
          </p:cNvPr>
          <p:cNvGrpSpPr/>
          <p:nvPr/>
        </p:nvGrpSpPr>
        <p:grpSpPr>
          <a:xfrm>
            <a:off x="1119909" y="2791112"/>
            <a:ext cx="1996249" cy="1471687"/>
            <a:chOff x="12230039" y="2852728"/>
            <a:chExt cx="1996249" cy="1471687"/>
          </a:xfrm>
        </p:grpSpPr>
        <p:pic>
          <p:nvPicPr>
            <p:cNvPr id="23" name="Picture 5">
              <a:extLst>
                <a:ext uri="{FF2B5EF4-FFF2-40B4-BE49-F238E27FC236}">
                  <a16:creationId xmlns:a16="http://schemas.microsoft.com/office/drawing/2014/main" id="{176FE011-AEF5-421F-BFF6-91BEC84D529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alphaModFix amt="20000"/>
              <a:duotone>
                <a:prstClr val="black"/>
                <a:schemeClr val="tx2">
                  <a:tint val="45000"/>
                  <a:satMod val="400000"/>
                </a:schemeClr>
              </a:duotone>
            </a:blip>
            <a:stretch>
              <a:fillRect/>
            </a:stretch>
          </p:blipFill>
          <p:spPr>
            <a:xfrm>
              <a:off x="12445416" y="2852728"/>
              <a:ext cx="1543196" cy="1471687"/>
            </a:xfrm>
            <a:prstGeom prst="rect">
              <a:avLst/>
            </a:prstGeom>
          </p:spPr>
        </p:pic>
        <p:sp>
          <p:nvSpPr>
            <p:cNvPr id="24" name="TextBox 17">
              <a:extLst>
                <a:ext uri="{FF2B5EF4-FFF2-40B4-BE49-F238E27FC236}">
                  <a16:creationId xmlns:a16="http://schemas.microsoft.com/office/drawing/2014/main" id="{C60AFF6E-2EEC-40E0-8A31-8B97412EA6E4}"/>
                </a:ext>
              </a:extLst>
            </p:cNvPr>
            <p:cNvSpPr txBox="1"/>
            <p:nvPr/>
          </p:nvSpPr>
          <p:spPr>
            <a:xfrm>
              <a:off x="12230039" y="3173882"/>
              <a:ext cx="1996249" cy="874628"/>
            </a:xfrm>
            <a:prstGeom prst="rect">
              <a:avLst/>
            </a:prstGeom>
          </p:spPr>
          <p:txBody>
            <a:bodyPr rtlCol="0" anchor="t"/>
            <a:lstStyle/>
            <a:p>
              <a:pPr lvl="0" algn="ctr">
                <a:lnSpc>
                  <a:spcPct val="116199"/>
                </a:lnSpc>
              </a:pPr>
              <a:r>
                <a:rPr lang="ko-KR" altLang="en-US" sz="4000" dirty="0">
                  <a:solidFill>
                    <a:srgbClr val="1E1E1E"/>
                  </a:solidFill>
                  <a:latin typeface="프리젠테이션 5 Medium" pitchFamily="2" charset="-127"/>
                  <a:ea typeface="프리젠테이션 5 Medium" pitchFamily="2" charset="-127"/>
                </a:rPr>
                <a:t>문제</a:t>
              </a:r>
              <a:endParaRPr lang="en" sz="4000" b="0" i="0" u="none" strike="noStrike" dirty="0">
                <a:solidFill>
                  <a:srgbClr val="1E1E1E"/>
                </a:solidFill>
                <a:latin typeface="프리젠테이션 5 Medium" pitchFamily="2" charset="-127"/>
                <a:ea typeface="프리젠테이션 5 Medium" pitchFamily="2" charset="-127"/>
              </a:endParaRPr>
            </a:p>
          </p:txBody>
        </p:sp>
      </p:grpSp>
      <p:sp>
        <p:nvSpPr>
          <p:cNvPr id="26" name="TextBox 19">
            <a:extLst>
              <a:ext uri="{FF2B5EF4-FFF2-40B4-BE49-F238E27FC236}">
                <a16:creationId xmlns:a16="http://schemas.microsoft.com/office/drawing/2014/main" id="{6F293ED4-67E7-4715-BCDB-981F362F5AFE}"/>
              </a:ext>
            </a:extLst>
          </p:cNvPr>
          <p:cNvSpPr txBox="1"/>
          <p:nvPr/>
        </p:nvSpPr>
        <p:spPr>
          <a:xfrm>
            <a:off x="13942296" y="5012783"/>
            <a:ext cx="8395291" cy="967223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16199"/>
              </a:lnSpc>
            </a:pPr>
            <a:r>
              <a:rPr lang="en-US" altLang="ko-KR" sz="4266" b="0" i="0" u="none" strike="noStrike" spc="-85" dirty="0">
                <a:solidFill>
                  <a:srgbClr val="1E1E1E"/>
                </a:solidFill>
                <a:latin typeface="프리젠테이션 6 SemiBold" pitchFamily="2" charset="-127"/>
                <a:ea typeface="프리젠테이션 6 SemiBold" pitchFamily="2" charset="-127"/>
              </a:rPr>
              <a:t>SNS</a:t>
            </a:r>
            <a:r>
              <a:rPr lang="ko-KR" altLang="en-US" sz="4266" spc="-85" dirty="0">
                <a:solidFill>
                  <a:srgbClr val="1E1E1E"/>
                </a:solidFill>
                <a:latin typeface="프리젠테이션 6 SemiBold" pitchFamily="2" charset="-127"/>
                <a:ea typeface="프리젠테이션 6 SemiBold" pitchFamily="2" charset="-127"/>
              </a:rPr>
              <a:t> 기반</a:t>
            </a:r>
            <a:r>
              <a:rPr lang="ko-KR" altLang="en-US" sz="4266" b="0" i="0" u="none" strike="noStrike" spc="-85" dirty="0">
                <a:solidFill>
                  <a:srgbClr val="1E1E1E"/>
                </a:solidFill>
                <a:latin typeface="프리젠테이션 6 SemiBold" pitchFamily="2" charset="-127"/>
                <a:ea typeface="프리젠테이션 6 SemiBold" pitchFamily="2" charset="-127"/>
              </a:rPr>
              <a:t> 인터렉티브  콘텐츠</a:t>
            </a:r>
            <a:endParaRPr lang="en" sz="4266" b="0" i="0" u="none" strike="noStrike" spc="-85" dirty="0">
              <a:solidFill>
                <a:srgbClr val="1E1E1E"/>
              </a:solidFill>
              <a:latin typeface="프리젠테이션 6 SemiBold" pitchFamily="2" charset="-127"/>
              <a:ea typeface="프리젠테이션 6 SemiBold" pitchFamily="2" charset="-127"/>
            </a:endParaRPr>
          </a:p>
        </p:txBody>
      </p:sp>
      <p:sp>
        <p:nvSpPr>
          <p:cNvPr id="12" name="아래쪽 화살표 11"/>
          <p:cNvSpPr/>
          <p:nvPr/>
        </p:nvSpPr>
        <p:spPr>
          <a:xfrm>
            <a:off x="17884261" y="3853126"/>
            <a:ext cx="1131273" cy="879686"/>
          </a:xfrm>
          <a:prstGeom prst="downArrow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프리젠테이션 4 Regular" charset="-127"/>
              <a:ea typeface="프리젠테이션 4 Regular" charset="-127"/>
            </a:endParaRPr>
          </a:p>
        </p:txBody>
      </p:sp>
      <p:pic>
        <p:nvPicPr>
          <p:cNvPr id="34" name="Picture 5">
            <a:extLst>
              <a:ext uri="{FF2B5EF4-FFF2-40B4-BE49-F238E27FC236}">
                <a16:creationId xmlns:a16="http://schemas.microsoft.com/office/drawing/2014/main" id="{176FE011-AEF5-421F-BFF6-91BEC84D5295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20000"/>
            <a:duotone>
              <a:prstClr val="black"/>
              <a:schemeClr val="tx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11725880" y="4981898"/>
            <a:ext cx="1543196" cy="1471687"/>
          </a:xfrm>
          <a:prstGeom prst="rect">
            <a:avLst/>
          </a:prstGeom>
        </p:spPr>
      </p:pic>
      <p:sp>
        <p:nvSpPr>
          <p:cNvPr id="35" name="TextBox 17">
            <a:extLst>
              <a:ext uri="{FF2B5EF4-FFF2-40B4-BE49-F238E27FC236}">
                <a16:creationId xmlns:a16="http://schemas.microsoft.com/office/drawing/2014/main" id="{C60AFF6E-2EEC-40E0-8A31-8B97412EA6E4}"/>
              </a:ext>
            </a:extLst>
          </p:cNvPr>
          <p:cNvSpPr txBox="1"/>
          <p:nvPr/>
        </p:nvSpPr>
        <p:spPr>
          <a:xfrm>
            <a:off x="12030680" y="5068958"/>
            <a:ext cx="932297" cy="854871"/>
          </a:xfrm>
          <a:prstGeom prst="rect">
            <a:avLst/>
          </a:prstGeom>
        </p:spPr>
        <p:txBody>
          <a:bodyPr rtlCol="0" anchor="t"/>
          <a:lstStyle/>
          <a:p>
            <a:pPr lvl="0" algn="ctr"/>
            <a:r>
              <a:rPr lang="ko-KR" altLang="en-US" sz="4000" spc="-150" dirty="0">
                <a:solidFill>
                  <a:srgbClr val="1E1E1E"/>
                </a:solidFill>
                <a:latin typeface="프리젠테이션 5 Medium" pitchFamily="2" charset="-127"/>
                <a:ea typeface="프리젠테이션 5 Medium" pitchFamily="2" charset="-127"/>
              </a:rPr>
              <a:t>해결</a:t>
            </a:r>
            <a:endParaRPr lang="en-US" altLang="ko-KR" sz="4000" spc="-150" dirty="0">
              <a:solidFill>
                <a:srgbClr val="1E1E1E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pPr lvl="0" algn="ctr"/>
            <a:r>
              <a:rPr lang="ko-KR" altLang="en-US" sz="4000" spc="-150" dirty="0">
                <a:solidFill>
                  <a:srgbClr val="1E1E1E"/>
                </a:solidFill>
                <a:latin typeface="프리젠테이션 5 Medium" pitchFamily="2" charset="-127"/>
                <a:ea typeface="프리젠테이션 5 Medium" pitchFamily="2" charset="-127"/>
              </a:rPr>
              <a:t>방안</a:t>
            </a:r>
            <a:endParaRPr lang="en-US" altLang="ko-KR" sz="4000" spc="-150" dirty="0">
              <a:solidFill>
                <a:srgbClr val="1E1E1E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25" name="TextBox 7">
            <a:extLst>
              <a:ext uri="{FF2B5EF4-FFF2-40B4-BE49-F238E27FC236}">
                <a16:creationId xmlns:a16="http://schemas.microsoft.com/office/drawing/2014/main" id="{F1F76612-67E0-4285-B80D-D2C118D0ED61}"/>
              </a:ext>
            </a:extLst>
          </p:cNvPr>
          <p:cNvSpPr txBox="1"/>
          <p:nvPr/>
        </p:nvSpPr>
        <p:spPr>
          <a:xfrm>
            <a:off x="14097000" y="5902098"/>
            <a:ext cx="9301936" cy="1159564"/>
          </a:xfrm>
          <a:prstGeom prst="rect">
            <a:avLst/>
          </a:prstGeom>
        </p:spPr>
        <p:txBody>
          <a:bodyPr lIns="0" tIns="167301" rIns="0" bIns="0" rtlCol="0" anchor="t"/>
          <a:lstStyle/>
          <a:p>
            <a:pPr marL="457200" lvl="0" indent="-457200" algn="l">
              <a:lnSpc>
                <a:spcPct val="94619"/>
              </a:lnSpc>
              <a:buFont typeface="Arial" panose="020B0604020202020204" pitchFamily="34" charset="0"/>
              <a:buChar char="•"/>
            </a:pPr>
            <a:r>
              <a:rPr lang="ko-KR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프리젠테이션 4 Regular" charset="-127"/>
                <a:ea typeface="프리젠테이션 4 Regular" charset="-127"/>
              </a:rPr>
              <a:t>관광 이동 자체를 </a:t>
            </a:r>
            <a:r>
              <a:rPr lang="ko-KR" altLang="en-US" sz="28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프리젠테이션 4 Regular" charset="-127"/>
                <a:ea typeface="프리젠테이션 4 Regular" charset="-127"/>
              </a:rPr>
              <a:t>게이미피케이션화하여</a:t>
            </a:r>
            <a:r>
              <a:rPr lang="ko-KR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프리젠테이션 4 Regular" charset="-127"/>
                <a:ea typeface="프리젠테이션 4 Regular" charset="-127"/>
              </a:rPr>
              <a:t> </a:t>
            </a:r>
            <a:r>
              <a:rPr lang="ko-KR" altLang="en-US" sz="3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프리젠테이션 4 Regular" charset="-127"/>
                <a:ea typeface="프리젠테이션 4 Regular" charset="-127"/>
              </a:rPr>
              <a:t>체험</a:t>
            </a:r>
            <a:r>
              <a:rPr lang="en-US" altLang="ko-KR" sz="3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프리젠테이션 4 Regular" charset="-127"/>
                <a:ea typeface="프리젠테이션 4 Regular" charset="-127"/>
              </a:rPr>
              <a:t>/</a:t>
            </a:r>
            <a:r>
              <a:rPr lang="ko-KR" altLang="en-US" sz="3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프리젠테이션 4 Regular" charset="-127"/>
                <a:ea typeface="프리젠테이션 4 Regular" charset="-127"/>
              </a:rPr>
              <a:t>참여형 </a:t>
            </a:r>
            <a:r>
              <a:rPr lang="ko-KR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프리젠테이션 4 Regular" charset="-127"/>
                <a:ea typeface="프리젠테이션 4 Regular" charset="-127"/>
              </a:rPr>
              <a:t>콘텐츠로 전환</a:t>
            </a:r>
            <a:endParaRPr lang="en-US" altLang="ko-KR" sz="2800" dirty="0">
              <a:solidFill>
                <a:schemeClr val="tx1">
                  <a:lumMod val="95000"/>
                  <a:lumOff val="5000"/>
                </a:schemeClr>
              </a:solidFill>
              <a:latin typeface="프리젠테이션 4 Regular" charset="-127"/>
              <a:ea typeface="프리젠테이션 4 Regular" charset="-127"/>
            </a:endParaRPr>
          </a:p>
          <a:p>
            <a:pPr marL="457200" lvl="0" indent="-457200" algn="l">
              <a:lnSpc>
                <a:spcPct val="94619"/>
              </a:lnSpc>
              <a:buFont typeface="Arial" panose="020B0604020202020204" pitchFamily="34" charset="0"/>
              <a:buChar char="•"/>
            </a:pPr>
            <a:r>
              <a:rPr lang="en-US" altLang="ko-KR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프리젠테이션 4 Regular" charset="-127"/>
                <a:ea typeface="프리젠테이션 4 Regular" charset="-127"/>
              </a:rPr>
              <a:t>SNS </a:t>
            </a:r>
            <a:r>
              <a:rPr lang="ko-KR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프리젠테이션 4 Regular" charset="-127"/>
                <a:ea typeface="프리젠테이션 4 Regular" charset="-127"/>
              </a:rPr>
              <a:t>확산을 통한 자발적 홍보 유도</a:t>
            </a:r>
            <a:endParaRPr lang="en-US" altLang="ko-KR" sz="2800" dirty="0">
              <a:solidFill>
                <a:schemeClr val="tx1">
                  <a:lumMod val="95000"/>
                  <a:lumOff val="5000"/>
                </a:schemeClr>
              </a:solidFill>
              <a:latin typeface="프리젠테이션 4 Regular" charset="-127"/>
              <a:ea typeface="프리젠테이션 4 Regular" charset="-127"/>
            </a:endParaRPr>
          </a:p>
        </p:txBody>
      </p:sp>
      <p:sp>
        <p:nvSpPr>
          <p:cNvPr id="27" name="TextBox 7">
            <a:extLst>
              <a:ext uri="{FF2B5EF4-FFF2-40B4-BE49-F238E27FC236}">
                <a16:creationId xmlns:a16="http://schemas.microsoft.com/office/drawing/2014/main" id="{02143B5E-A419-4D29-89BC-5DA7D6EF4391}"/>
              </a:ext>
            </a:extLst>
          </p:cNvPr>
          <p:cNvSpPr txBox="1"/>
          <p:nvPr/>
        </p:nvSpPr>
        <p:spPr>
          <a:xfrm>
            <a:off x="11935652" y="7610264"/>
            <a:ext cx="10945683" cy="4515642"/>
          </a:xfrm>
          <a:prstGeom prst="rect">
            <a:avLst/>
          </a:prstGeom>
        </p:spPr>
        <p:txBody>
          <a:bodyPr lIns="0" tIns="167301" rIns="0" bIns="0" rtlCol="0" anchor="t"/>
          <a:lstStyle/>
          <a:p>
            <a:pPr marL="457200" lvl="0" indent="-457200" algn="l">
              <a:lnSpc>
                <a:spcPct val="150000"/>
              </a:lnSpc>
              <a:buFontTx/>
              <a:buChar char="-"/>
            </a:pPr>
            <a:r>
              <a:rPr lang="ko-KR" altLang="en-US" sz="3600" dirty="0">
                <a:solidFill>
                  <a:schemeClr val="tx1">
                    <a:lumMod val="95000"/>
                    <a:lumOff val="5000"/>
                  </a:schemeClr>
                </a:solidFill>
                <a:latin typeface="프리젠테이션 4 Regular" charset="-127"/>
                <a:ea typeface="프리젠테이션 4 Regular" charset="-127"/>
              </a:rPr>
              <a:t>주요 관광지 이동 동선을 미션형 코스로 설계</a:t>
            </a:r>
            <a:endParaRPr lang="en-US" altLang="ko-KR" sz="3600" dirty="0">
              <a:solidFill>
                <a:schemeClr val="tx1">
                  <a:lumMod val="95000"/>
                  <a:lumOff val="5000"/>
                </a:schemeClr>
              </a:solidFill>
              <a:latin typeface="프리젠테이션 4 Regular" charset="-127"/>
              <a:ea typeface="프리젠테이션 4 Regular" charset="-127"/>
            </a:endParaRPr>
          </a:p>
          <a:p>
            <a:pPr marL="457200" lvl="0" indent="-457200" algn="l">
              <a:lnSpc>
                <a:spcPct val="150000"/>
              </a:lnSpc>
              <a:buFontTx/>
              <a:buChar char="-"/>
            </a:pPr>
            <a:r>
              <a:rPr lang="ko-KR" altLang="en-US" sz="36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프리젠테이션 4 Regular" charset="-127"/>
                <a:ea typeface="프리젠테이션 4 Regular" charset="-127"/>
              </a:rPr>
              <a:t>게이미피케이션</a:t>
            </a:r>
            <a:r>
              <a:rPr lang="ko-KR" altLang="en-US" sz="3600" dirty="0">
                <a:solidFill>
                  <a:schemeClr val="tx1">
                    <a:lumMod val="95000"/>
                    <a:lumOff val="5000"/>
                  </a:schemeClr>
                </a:solidFill>
                <a:latin typeface="프리젠테이션 4 Regular" charset="-127"/>
                <a:ea typeface="프리젠테이션 4 Regular" charset="-127"/>
              </a:rPr>
              <a:t> 요소</a:t>
            </a:r>
            <a:r>
              <a:rPr lang="en-US" altLang="ko-KR" sz="3600" dirty="0">
                <a:solidFill>
                  <a:schemeClr val="tx1">
                    <a:lumMod val="95000"/>
                    <a:lumOff val="5000"/>
                  </a:schemeClr>
                </a:solidFill>
                <a:latin typeface="프리젠테이션 4 Regular" charset="-127"/>
                <a:ea typeface="프리젠테이션 4 Regular" charset="-127"/>
              </a:rPr>
              <a:t>(</a:t>
            </a:r>
            <a:r>
              <a:rPr lang="ko-KR" altLang="en-US" sz="3600" dirty="0">
                <a:solidFill>
                  <a:schemeClr val="tx1">
                    <a:lumMod val="95000"/>
                    <a:lumOff val="5000"/>
                  </a:schemeClr>
                </a:solidFill>
                <a:latin typeface="프리젠테이션 4 Regular" charset="-127"/>
                <a:ea typeface="프리젠테이션 4 Regular" charset="-127"/>
              </a:rPr>
              <a:t>랭킹</a:t>
            </a:r>
            <a:r>
              <a:rPr lang="en-US" altLang="ko-KR" sz="3600" dirty="0">
                <a:solidFill>
                  <a:schemeClr val="tx1">
                    <a:lumMod val="95000"/>
                    <a:lumOff val="5000"/>
                  </a:schemeClr>
                </a:solidFill>
                <a:latin typeface="프리젠테이션 4 Regular" charset="-127"/>
                <a:ea typeface="프리젠테이션 4 Regular" charset="-127"/>
              </a:rPr>
              <a:t>/</a:t>
            </a:r>
            <a:r>
              <a:rPr lang="ko-KR" altLang="en-US" sz="3600" dirty="0">
                <a:solidFill>
                  <a:schemeClr val="tx1">
                    <a:lumMod val="95000"/>
                    <a:lumOff val="5000"/>
                  </a:schemeClr>
                </a:solidFill>
                <a:latin typeface="프리젠테이션 4 Regular" charset="-127"/>
                <a:ea typeface="프리젠테이션 4 Regular" charset="-127"/>
              </a:rPr>
              <a:t>포인트</a:t>
            </a:r>
            <a:r>
              <a:rPr lang="en-US" altLang="ko-KR" sz="3600" dirty="0">
                <a:solidFill>
                  <a:schemeClr val="tx1">
                    <a:lumMod val="95000"/>
                    <a:lumOff val="5000"/>
                  </a:schemeClr>
                </a:solidFill>
                <a:latin typeface="프리젠테이션 4 Regular" charset="-127"/>
                <a:ea typeface="프리젠테이션 4 Regular" charset="-127"/>
              </a:rPr>
              <a:t>)</a:t>
            </a:r>
            <a:r>
              <a:rPr lang="ko-KR" altLang="en-US" sz="3600" dirty="0">
                <a:solidFill>
                  <a:schemeClr val="tx1">
                    <a:lumMod val="95000"/>
                    <a:lumOff val="5000"/>
                  </a:schemeClr>
                </a:solidFill>
                <a:latin typeface="프리젠테이션 4 Regular" charset="-127"/>
                <a:ea typeface="프리젠테이션 4 Regular" charset="-127"/>
              </a:rPr>
              <a:t>로 체험 몰입도 강화</a:t>
            </a:r>
            <a:endParaRPr lang="en-US" altLang="ko-KR" sz="3600" dirty="0">
              <a:solidFill>
                <a:schemeClr val="tx1">
                  <a:lumMod val="95000"/>
                  <a:lumOff val="5000"/>
                </a:schemeClr>
              </a:solidFill>
              <a:latin typeface="프리젠테이션 4 Regular" charset="-127"/>
              <a:ea typeface="프리젠테이션 4 Regular" charset="-127"/>
            </a:endParaRPr>
          </a:p>
          <a:p>
            <a:pPr marL="457200" lvl="0" indent="-457200" algn="l">
              <a:lnSpc>
                <a:spcPct val="150000"/>
              </a:lnSpc>
              <a:buFontTx/>
              <a:buChar char="-"/>
            </a:pPr>
            <a:r>
              <a:rPr lang="en-US" altLang="ko-KR" sz="3600" dirty="0">
                <a:solidFill>
                  <a:schemeClr val="tx1">
                    <a:lumMod val="95000"/>
                    <a:lumOff val="5000"/>
                  </a:schemeClr>
                </a:solidFill>
                <a:latin typeface="프리젠테이션 4 Regular" charset="-127"/>
                <a:ea typeface="프리젠테이션 4 Regular" charset="-127"/>
              </a:rPr>
              <a:t>SNS </a:t>
            </a:r>
            <a:r>
              <a:rPr lang="ko-KR" altLang="en-US" sz="3600" dirty="0">
                <a:solidFill>
                  <a:schemeClr val="tx1">
                    <a:lumMod val="95000"/>
                    <a:lumOff val="5000"/>
                  </a:schemeClr>
                </a:solidFill>
                <a:latin typeface="프리젠테이션 4 Regular" charset="-127"/>
                <a:ea typeface="프리젠테이션 4 Regular" charset="-127"/>
              </a:rPr>
              <a:t>인증 및 공유 미션 참여 유도</a:t>
            </a:r>
            <a:endParaRPr lang="en-US" altLang="ko-KR" sz="3600" dirty="0">
              <a:solidFill>
                <a:schemeClr val="tx1">
                  <a:lumMod val="95000"/>
                  <a:lumOff val="5000"/>
                </a:schemeClr>
              </a:solidFill>
              <a:latin typeface="프리젠테이션 4 Regular" charset="-127"/>
              <a:ea typeface="프리젠테이션 4 Regular" charset="-127"/>
            </a:endParaRPr>
          </a:p>
          <a:p>
            <a:pPr marL="457200" lvl="0" indent="-457200" algn="l">
              <a:lnSpc>
                <a:spcPct val="150000"/>
              </a:lnSpc>
              <a:buFontTx/>
              <a:buChar char="-"/>
            </a:pPr>
            <a:r>
              <a:rPr lang="ko-KR" altLang="en-US" sz="3600" dirty="0">
                <a:solidFill>
                  <a:schemeClr val="tx1">
                    <a:lumMod val="95000"/>
                    <a:lumOff val="5000"/>
                  </a:schemeClr>
                </a:solidFill>
                <a:latin typeface="프리젠테이션 4 Regular" charset="-127"/>
                <a:ea typeface="프리젠테이션 4 Regular" charset="-127"/>
              </a:rPr>
              <a:t>미션 완료 후 포인트를 이용한 특산품 교환권</a:t>
            </a:r>
            <a:r>
              <a:rPr lang="en-US" altLang="ko-KR" sz="3600" dirty="0">
                <a:solidFill>
                  <a:schemeClr val="tx1">
                    <a:lumMod val="95000"/>
                    <a:lumOff val="5000"/>
                  </a:schemeClr>
                </a:solidFill>
                <a:latin typeface="프리젠테이션 4 Regular" charset="-127"/>
                <a:ea typeface="프리젠테이션 4 Regular" charset="-127"/>
              </a:rPr>
              <a:t>,  </a:t>
            </a:r>
            <a:r>
              <a:rPr lang="ko-KR" altLang="en-US" sz="3600" dirty="0">
                <a:solidFill>
                  <a:schemeClr val="tx1">
                    <a:lumMod val="95000"/>
                    <a:lumOff val="5000"/>
                  </a:schemeClr>
                </a:solidFill>
                <a:latin typeface="프리젠테이션 4 Regular" charset="-127"/>
                <a:ea typeface="프리젠테이션 4 Regular" charset="-127"/>
              </a:rPr>
              <a:t>숙박</a:t>
            </a:r>
            <a:r>
              <a:rPr lang="en-US" altLang="ko-KR" sz="3600" dirty="0">
                <a:solidFill>
                  <a:schemeClr val="tx1">
                    <a:lumMod val="95000"/>
                    <a:lumOff val="5000"/>
                  </a:schemeClr>
                </a:solidFill>
                <a:latin typeface="프리젠테이션 4 Regular" charset="-127"/>
                <a:ea typeface="프리젠테이션 4 Regular" charset="-127"/>
              </a:rPr>
              <a:t>/</a:t>
            </a:r>
            <a:r>
              <a:rPr lang="ko-KR" altLang="en-US" sz="3600" dirty="0">
                <a:solidFill>
                  <a:schemeClr val="tx1">
                    <a:lumMod val="95000"/>
                    <a:lumOff val="5000"/>
                  </a:schemeClr>
                </a:solidFill>
                <a:latin typeface="프리젠테이션 4 Regular" charset="-127"/>
                <a:ea typeface="프리젠테이션 4 Regular" charset="-127"/>
              </a:rPr>
              <a:t>체험 </a:t>
            </a:r>
            <a:r>
              <a:rPr lang="ko-KR" altLang="en-US" sz="36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프리젠테이션 4 Regular" charset="-127"/>
                <a:ea typeface="프리젠테이션 4 Regular" charset="-127"/>
              </a:rPr>
              <a:t>할인권등과</a:t>
            </a:r>
            <a:r>
              <a:rPr lang="ko-KR" altLang="en-US" sz="3600" dirty="0">
                <a:solidFill>
                  <a:schemeClr val="tx1">
                    <a:lumMod val="95000"/>
                    <a:lumOff val="5000"/>
                  </a:schemeClr>
                </a:solidFill>
                <a:latin typeface="프리젠테이션 4 Regular" charset="-127"/>
                <a:ea typeface="프리젠테이션 4 Regular" charset="-127"/>
              </a:rPr>
              <a:t> 같이 전라남도 한정 리워드 제공</a:t>
            </a:r>
            <a:endParaRPr lang="en-US" altLang="ko-KR" sz="3600" dirty="0">
              <a:solidFill>
                <a:schemeClr val="tx1">
                  <a:lumMod val="95000"/>
                  <a:lumOff val="5000"/>
                </a:schemeClr>
              </a:solidFill>
              <a:latin typeface="프리젠테이션 4 Regular" charset="-127"/>
              <a:ea typeface="프리젠테이션 4 Regular" charset="-127"/>
            </a:endParaRPr>
          </a:p>
          <a:p>
            <a:pPr marL="457200" lvl="0" indent="-457200" algn="l">
              <a:lnSpc>
                <a:spcPct val="150000"/>
              </a:lnSpc>
              <a:buFontTx/>
              <a:buChar char="-"/>
            </a:pPr>
            <a:endParaRPr lang="en-US" altLang="ko-KR" sz="2800" dirty="0">
              <a:solidFill>
                <a:schemeClr val="tx1">
                  <a:lumMod val="95000"/>
                  <a:lumOff val="5000"/>
                </a:schemeClr>
              </a:solidFill>
              <a:latin typeface="프리젠테이션 4 Regular" charset="-127"/>
              <a:ea typeface="프리젠테이션 4 Regular" charset="-127"/>
            </a:endParaRPr>
          </a:p>
        </p:txBody>
      </p:sp>
      <p:pic>
        <p:nvPicPr>
          <p:cNvPr id="3" name="Picture 3">
            <a:extLst>
              <a:ext uri="{FF2B5EF4-FFF2-40B4-BE49-F238E27FC236}">
                <a16:creationId xmlns:a16="http://schemas.microsoft.com/office/drawing/2014/main" id="{EA984CB2-112D-71A8-9545-0B164B14C2CB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prstClr val="black"/>
              <a:schemeClr val="tx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-584200" y="990600"/>
            <a:ext cx="1155700" cy="1155700"/>
          </a:xfrm>
          <a:prstGeom prst="rect">
            <a:avLst/>
          </a:prstGeom>
        </p:spPr>
      </p:pic>
      <p:pic>
        <p:nvPicPr>
          <p:cNvPr id="11" name="Picture 4">
            <a:extLst>
              <a:ext uri="{FF2B5EF4-FFF2-40B4-BE49-F238E27FC236}">
                <a16:creationId xmlns:a16="http://schemas.microsoft.com/office/drawing/2014/main" id="{190CDF77-1AE3-23A0-6667-A838D9DBC37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flipH="1">
            <a:off x="5797307" y="1077635"/>
            <a:ext cx="57392" cy="994765"/>
          </a:xfrm>
          <a:prstGeom prst="rect">
            <a:avLst/>
          </a:prstGeom>
          <a:effectLst>
            <a:outerShdw blurRad="2540" dist="5862" dir="2700000">
              <a:srgbClr val="1E1E1E">
                <a:alpha val="50000"/>
              </a:srgbClr>
            </a:outerShdw>
          </a:effectLst>
        </p:spPr>
      </p:pic>
      <p:sp>
        <p:nvSpPr>
          <p:cNvPr id="2" name="TextBox 33">
            <a:extLst>
              <a:ext uri="{FF2B5EF4-FFF2-40B4-BE49-F238E27FC236}">
                <a16:creationId xmlns:a16="http://schemas.microsoft.com/office/drawing/2014/main" id="{C44A6CE2-64EE-EA92-69F7-BB7D6967A459}"/>
              </a:ext>
            </a:extLst>
          </p:cNvPr>
          <p:cNvSpPr txBox="1"/>
          <p:nvPr/>
        </p:nvSpPr>
        <p:spPr>
          <a:xfrm>
            <a:off x="1092200" y="1193800"/>
            <a:ext cx="4114800" cy="7112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16199"/>
              </a:lnSpc>
            </a:pPr>
            <a:r>
              <a:rPr lang="en-US" altLang="ko-KR" sz="4000" b="0" i="0" u="none" strike="noStrike" dirty="0">
                <a:solidFill>
                  <a:srgbClr val="000000"/>
                </a:solidFill>
                <a:latin typeface="프리젠테이션 6 SemiBold" pitchFamily="2" charset="-127"/>
                <a:ea typeface="프리젠테이션 6 SemiBold" pitchFamily="2" charset="-127"/>
              </a:rPr>
              <a:t>3. </a:t>
            </a:r>
            <a:r>
              <a:rPr lang="ko-KR" altLang="en-US" sz="4000" b="0" i="0" u="none" strike="noStrike" dirty="0">
                <a:solidFill>
                  <a:srgbClr val="000000"/>
                </a:solidFill>
                <a:latin typeface="프리젠테이션 6 SemiBold" pitchFamily="2" charset="-127"/>
                <a:ea typeface="프리젠테이션 6 SemiBold" pitchFamily="2" charset="-127"/>
              </a:rPr>
              <a:t>결과 및 기대효과</a:t>
            </a:r>
            <a:endParaRPr lang="en" sz="4000" b="0" i="0" u="none" strike="noStrike" dirty="0">
              <a:solidFill>
                <a:srgbClr val="000000"/>
              </a:solidFill>
              <a:latin typeface="프리젠테이션 6 SemiBold" pitchFamily="2" charset="-127"/>
              <a:ea typeface="프리젠테이션 6 SemiBold" pitchFamily="2" charset="-127"/>
            </a:endParaRPr>
          </a:p>
        </p:txBody>
      </p:sp>
      <p:sp>
        <p:nvSpPr>
          <p:cNvPr id="4" name="TextBox 11">
            <a:extLst>
              <a:ext uri="{FF2B5EF4-FFF2-40B4-BE49-F238E27FC236}">
                <a16:creationId xmlns:a16="http://schemas.microsoft.com/office/drawing/2014/main" id="{73E1D5C4-1E59-B514-A212-7BED078D5C4C}"/>
              </a:ext>
            </a:extLst>
          </p:cNvPr>
          <p:cNvSpPr txBox="1"/>
          <p:nvPr/>
        </p:nvSpPr>
        <p:spPr>
          <a:xfrm>
            <a:off x="6120981" y="990600"/>
            <a:ext cx="3276600" cy="4318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16199"/>
              </a:lnSpc>
            </a:pPr>
            <a:r>
              <a:rPr lang="en" sz="2800" b="0" i="0" u="none" strike="noStrike" dirty="0">
                <a:solidFill>
                  <a:srgbClr val="7F8690"/>
                </a:solidFill>
                <a:latin typeface="프리젠테이션 6 SemiBold" pitchFamily="2" charset="-127"/>
                <a:ea typeface="프리젠테이션 6 SemiBold" pitchFamily="2" charset="-127"/>
              </a:rPr>
              <a:t>SNS &amp; OTT </a:t>
            </a:r>
            <a:r>
              <a:rPr lang="ko-KR" altLang="en-US" sz="2800" b="0" i="0" u="none" strike="noStrike" dirty="0">
                <a:solidFill>
                  <a:srgbClr val="7F8690"/>
                </a:solidFill>
                <a:latin typeface="프리젠테이션 6 SemiBold" pitchFamily="2" charset="-127"/>
                <a:ea typeface="프리젠테이션 6 SemiBold" pitchFamily="2" charset="-127"/>
              </a:rPr>
              <a:t>홍보 전략</a:t>
            </a:r>
            <a:endParaRPr lang="en" sz="2800" b="0" i="0" u="none" strike="noStrike" dirty="0">
              <a:solidFill>
                <a:srgbClr val="7F8690"/>
              </a:solidFill>
              <a:latin typeface="프리젠테이션 6 SemiBold" pitchFamily="2" charset="-127"/>
              <a:ea typeface="프리젠테이션 6 SemiBold" pitchFamily="2" charset="-127"/>
            </a:endParaRPr>
          </a:p>
        </p:txBody>
      </p:sp>
      <p:sp>
        <p:nvSpPr>
          <p:cNvPr id="5" name="TextBox 32">
            <a:extLst>
              <a:ext uri="{FF2B5EF4-FFF2-40B4-BE49-F238E27FC236}">
                <a16:creationId xmlns:a16="http://schemas.microsoft.com/office/drawing/2014/main" id="{0DDE5817-6EF4-C62A-2303-944D4227AF4E}"/>
              </a:ext>
            </a:extLst>
          </p:cNvPr>
          <p:cNvSpPr txBox="1"/>
          <p:nvPr/>
        </p:nvSpPr>
        <p:spPr>
          <a:xfrm>
            <a:off x="6026392" y="1429449"/>
            <a:ext cx="13252208" cy="1155700"/>
          </a:xfrm>
          <a:prstGeom prst="rect">
            <a:avLst/>
          </a:prstGeom>
        </p:spPr>
        <p:txBody>
          <a:bodyPr rtlCol="0" anchor="t"/>
          <a:lstStyle/>
          <a:p>
            <a:pPr>
              <a:lnSpc>
                <a:spcPct val="116199"/>
              </a:lnSpc>
            </a:pPr>
            <a:r>
              <a:rPr lang="en-US" sz="4800" b="0" i="0" u="none" strike="noStrike" dirty="0">
                <a:solidFill>
                  <a:srgbClr val="1E1E1E"/>
                </a:solidFill>
                <a:latin typeface="프리젠테이션 6 SemiBold" pitchFamily="2" charset="-127"/>
                <a:ea typeface="프리젠테이션 6 SemiBold" pitchFamily="2" charset="-127"/>
              </a:rPr>
              <a:t> 2</a:t>
            </a:r>
            <a:r>
              <a:rPr lang="en-US" sz="4800" dirty="0">
                <a:solidFill>
                  <a:srgbClr val="1E1E1E"/>
                </a:solidFill>
                <a:latin typeface="프리젠테이션 6 SemiBold" pitchFamily="2" charset="-127"/>
                <a:ea typeface="프리젠테이션 6 SemiBold" pitchFamily="2" charset="-127"/>
              </a:rPr>
              <a:t>. </a:t>
            </a:r>
            <a:r>
              <a:rPr lang="ko-KR" altLang="en-US" sz="4800" dirty="0">
                <a:solidFill>
                  <a:srgbClr val="1E1E1E"/>
                </a:solidFill>
                <a:latin typeface="프리젠테이션 6 SemiBold" pitchFamily="2" charset="-127"/>
                <a:ea typeface="프리젠테이션 6 SemiBold" pitchFamily="2" charset="-127"/>
              </a:rPr>
              <a:t>체험에 관한 전략</a:t>
            </a:r>
            <a:endParaRPr lang="ko-KR" sz="4800" b="0" i="0" u="none" strike="noStrike" dirty="0">
              <a:solidFill>
                <a:srgbClr val="1E1E1E"/>
              </a:solidFill>
              <a:latin typeface="프리젠테이션 6 SemiBold" pitchFamily="2" charset="-127"/>
              <a:ea typeface="프리젠테이션 6 SemiBold" pitchFamily="2" charset="-127"/>
            </a:endParaRPr>
          </a:p>
        </p:txBody>
      </p: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42D37CAB-B5BD-4F94-BAD0-9EF7018A6C97}"/>
              </a:ext>
            </a:extLst>
          </p:cNvPr>
          <p:cNvGrpSpPr/>
          <p:nvPr/>
        </p:nvGrpSpPr>
        <p:grpSpPr>
          <a:xfrm>
            <a:off x="1477922" y="4385744"/>
            <a:ext cx="8256597" cy="3665900"/>
            <a:chOff x="1397406" y="5322917"/>
            <a:chExt cx="13544417" cy="6882532"/>
          </a:xfrm>
        </p:grpSpPr>
        <p:pic>
          <p:nvPicPr>
            <p:cNvPr id="29" name="그림 28">
              <a:extLst>
                <a:ext uri="{FF2B5EF4-FFF2-40B4-BE49-F238E27FC236}">
                  <a16:creationId xmlns:a16="http://schemas.microsoft.com/office/drawing/2014/main" id="{3AD60FF9-4A53-42E8-8755-518B7BAAEE7B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397406" y="5322917"/>
              <a:ext cx="13544417" cy="6567354"/>
            </a:xfrm>
            <a:prstGeom prst="rect">
              <a:avLst/>
            </a:prstGeom>
          </p:spPr>
        </p:pic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B8545296-AF17-4E0D-A431-F65EF7FA1986}"/>
                </a:ext>
              </a:extLst>
            </p:cNvPr>
            <p:cNvSpPr txBox="1"/>
            <p:nvPr/>
          </p:nvSpPr>
          <p:spPr>
            <a:xfrm>
              <a:off x="1437995" y="11575092"/>
              <a:ext cx="12653318" cy="63035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2000" b="0" dirty="0">
                  <a:solidFill>
                    <a:srgbClr val="7F8690"/>
                  </a:solidFill>
                  <a:effectLst/>
                  <a:latin typeface="프리젠테이션 4 Regular" charset="-127"/>
                  <a:ea typeface="프리젠테이션 4 Regular" charset="-127"/>
                </a:rPr>
                <a:t>* </a:t>
              </a:r>
              <a:r>
                <a:rPr lang="ko-KR" altLang="en-US" sz="2000" b="0" dirty="0">
                  <a:solidFill>
                    <a:srgbClr val="7F8690"/>
                  </a:solidFill>
                  <a:effectLst/>
                  <a:latin typeface="프리젠테이션 4 Regular" charset="-127"/>
                  <a:ea typeface="프리젠테이션 4 Regular" charset="-127"/>
                </a:rPr>
                <a:t>한국교통안전공단</a:t>
              </a:r>
              <a:r>
                <a:rPr lang="en-US" altLang="ko-KR" sz="2000" b="0" dirty="0">
                  <a:solidFill>
                    <a:srgbClr val="7F8690"/>
                  </a:solidFill>
                  <a:effectLst/>
                  <a:latin typeface="프리젠테이션 4 Regular" charset="-127"/>
                  <a:ea typeface="프리젠테이션 4 Regular" charset="-127"/>
                </a:rPr>
                <a:t>_</a:t>
              </a:r>
              <a:r>
                <a:rPr lang="ko-KR" altLang="en-US" sz="2000" b="0" dirty="0">
                  <a:solidFill>
                    <a:srgbClr val="7F8690"/>
                  </a:solidFill>
                  <a:effectLst/>
                  <a:latin typeface="프리젠테이션 4 Regular" charset="-127"/>
                  <a:ea typeface="프리젠테이션 4 Regular" charset="-127"/>
                </a:rPr>
                <a:t>전국 지역별 대중교통 서비스별 만족도 현황</a:t>
              </a:r>
            </a:p>
          </p:txBody>
        </p:sp>
      </p:grp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E3BD5132-206B-40A3-A8F3-EB2517627CE6}"/>
              </a:ext>
            </a:extLst>
          </p:cNvPr>
          <p:cNvGrpSpPr/>
          <p:nvPr/>
        </p:nvGrpSpPr>
        <p:grpSpPr>
          <a:xfrm>
            <a:off x="5685699" y="4630247"/>
            <a:ext cx="6737787" cy="1544601"/>
            <a:chOff x="5454213" y="4728229"/>
            <a:chExt cx="6737787" cy="1544601"/>
          </a:xfrm>
        </p:grpSpPr>
        <p:cxnSp>
          <p:nvCxnSpPr>
            <p:cNvPr id="15" name="직선 화살표 연결선 14">
              <a:extLst>
                <a:ext uri="{FF2B5EF4-FFF2-40B4-BE49-F238E27FC236}">
                  <a16:creationId xmlns:a16="http://schemas.microsoft.com/office/drawing/2014/main" id="{B22F6BB6-5AA0-4BC5-9E57-B80AB664863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162801" y="5266100"/>
              <a:ext cx="304799" cy="1006730"/>
            </a:xfrm>
            <a:prstGeom prst="straightConnector1">
              <a:avLst/>
            </a:prstGeom>
            <a:ln w="57150">
              <a:solidFill>
                <a:srgbClr val="34425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TextBox 7">
              <a:extLst>
                <a:ext uri="{FF2B5EF4-FFF2-40B4-BE49-F238E27FC236}">
                  <a16:creationId xmlns:a16="http://schemas.microsoft.com/office/drawing/2014/main" id="{F1E3FC99-09DC-466C-A258-7A8CA88E6452}"/>
                </a:ext>
              </a:extLst>
            </p:cNvPr>
            <p:cNvSpPr txBox="1"/>
            <p:nvPr/>
          </p:nvSpPr>
          <p:spPr>
            <a:xfrm>
              <a:off x="5454213" y="4728229"/>
              <a:ext cx="6737787" cy="663104"/>
            </a:xfrm>
            <a:prstGeom prst="rect">
              <a:avLst/>
            </a:prstGeom>
          </p:spPr>
          <p:txBody>
            <a:bodyPr lIns="0" tIns="167301" rIns="0" bIns="0" rtlCol="0" anchor="t"/>
            <a:lstStyle/>
            <a:p>
              <a:pPr lvl="0" algn="l">
                <a:lnSpc>
                  <a:spcPct val="94619"/>
                </a:lnSpc>
              </a:pPr>
              <a:r>
                <a:rPr lang="ko-KR" altLang="en-US" sz="2800" dirty="0">
                  <a:solidFill>
                    <a:srgbClr val="344252"/>
                  </a:solidFill>
                  <a:latin typeface="프리젠테이션 5 Medium" pitchFamily="2" charset="-127"/>
                  <a:ea typeface="프리젠테이션 5 Medium" pitchFamily="2" charset="-127"/>
                </a:rPr>
                <a:t>전라남도의 대중교통 종합 만족도는 하위권</a:t>
              </a:r>
              <a:endParaRPr lang="en-US" altLang="ko-KR" sz="2800" dirty="0">
                <a:solidFill>
                  <a:srgbClr val="344252"/>
                </a:solidFill>
                <a:latin typeface="프리젠테이션 5 Medium" pitchFamily="2" charset="-127"/>
                <a:ea typeface="프리젠테이션 5 Medium" pitchFamily="2" charset="-127"/>
              </a:endParaRPr>
            </a:p>
          </p:txBody>
        </p:sp>
      </p:grpSp>
      <p:pic>
        <p:nvPicPr>
          <p:cNvPr id="9" name="그림 8">
            <a:extLst>
              <a:ext uri="{FF2B5EF4-FFF2-40B4-BE49-F238E27FC236}">
                <a16:creationId xmlns:a16="http://schemas.microsoft.com/office/drawing/2014/main" id="{83AE76D3-01BC-4096-A3DD-E3AD7B4BDCC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55895" y="4322619"/>
            <a:ext cx="9301936" cy="9004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83708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7131</TotalTime>
  <Words>324</Words>
  <Application>Microsoft Office PowerPoint</Application>
  <PresentationFormat>사용자 지정</PresentationFormat>
  <Paragraphs>42</Paragraphs>
  <Slides>2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9" baseType="lpstr">
      <vt:lpstr>맑은 고딕</vt:lpstr>
      <vt:lpstr>Arial</vt:lpstr>
      <vt:lpstr>프리젠테이션 5 Medium</vt:lpstr>
      <vt:lpstr>Calibri</vt:lpstr>
      <vt:lpstr>프리젠테이션 6 SemiBold</vt:lpstr>
      <vt:lpstr>프리젠테이션 4 Regular</vt:lpstr>
      <vt:lpstr>Office Theme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com</dc:creator>
  <cp:lastModifiedBy>FullName</cp:lastModifiedBy>
  <cp:revision>798</cp:revision>
  <dcterms:created xsi:type="dcterms:W3CDTF">2006-08-16T00:00:00Z</dcterms:created>
  <dcterms:modified xsi:type="dcterms:W3CDTF">2025-12-01T07:33:27Z</dcterms:modified>
</cp:coreProperties>
</file>